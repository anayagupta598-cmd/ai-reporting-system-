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311ad8a-cc8b-ded6-1ae7-38a620095933}">
          <p14:sldIdLst>
            <p14:sldId id="256"/>
            <p14:sldId id="257"/>
            <p14:sldId id="258"/>
            <p14:sldId id="259"/>
          </p14:sldIdLst>
        </p14:section>
        <p14:section name="System Design" id="{891c0af5-e58c-60d0-886c-52fe8f540e1e}">
          <p14:sldIdLst>
            <p14:sldId id="260"/>
            <p14:sldId id="261"/>
            <p14:sldId id="262"/>
            <p14:sldId id="263"/>
            <p14:sldId id="264"/>
          </p14:sldIdLst>
        </p14:section>
        <p14:section name="Features and Technology" id="{d60ffaa2-4955-17f8-8e19-001aa5a2baee}">
          <p14:sldIdLst>
            <p14:sldId id="265"/>
            <p14:sldId id="266"/>
            <p14:sldId id="267"/>
            <p14:sldId id="268"/>
          </p14:sldIdLst>
        </p14:section>
        <p14:section name="Wrap-up" id="{5d0ef777-5aaa-6dd4-5fe7-c519c18255a2}">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325C"/>
                </a:solidFill>
                <a:latin typeface="+mn-lt"/>
              </a:defRPr>
            </a:pPr>
            <a:r>
              <a:rPr sz="1200" b="0" i="0" u="none" strike="noStrike">
                <a:solidFill>
                  <a:srgbClr val="14325C"/>
                </a:solidFill>
                <a:latin typeface="+mn-lt"/>
              </a:rPr>
              <a:t>Sales by Region (in thousands)</a:t>
            </a:r>
          </a:p>
        </c:rich>
      </c:tx>
      <c:layout/>
      <c:overlay val="0"/>
    </c:title>
    <c:autoTitleDeleted val="0"/>
    <c:plotArea>
      <c:layout/>
      <c:barChart>
        <c:barDir val="col"/>
        <c:grouping val="clustered"/>
        <c:varyColors val="0"/>
        <c:ser>
          <c:idx val="0"/>
          <c:order val="0"/>
          <c:tx>
            <c:strRef>
              <c:f>Sheet1!$B$1</c:f>
              <c:strCache>
                <c:ptCount val="1"/>
                <c:pt idx="0">
                  <c:v>Sales</c:v>
                </c:pt>
              </c:strCache>
            </c:strRef>
          </c:tx>
          <c:spPr>
            <a:solidFill>
              <a:srgbClr val="2E6DB4"/>
            </a:solidFill>
            <a:effectLst/>
          </c:spPr>
          <c:invertIfNegative val="0"/>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Sheet1!$A$2:$A$5</c:f>
              <c:multiLvlStrCache>
                <c:ptCount val="4"/>
                <c:lvl>
                  <c:pt idx="0">
                    <c:v>North</c:v>
                  </c:pt>
                  <c:pt idx="1">
                    <c:v>South</c:v>
                  </c:pt>
                  <c:pt idx="2">
                    <c:v>East</c:v>
                  </c:pt>
                  <c:pt idx="3">
                    <c:v>West</c:v>
                  </c:pt>
                </c:lvl>
              </c:multiLvlStrCache>
            </c:multiLvlStrRef>
          </c:cat>
          <c:val>
            <c:numRef>
              <c:f>Sheet1!$B$2:$B$5</c:f>
              <c:numCache>
                <c:formatCode>General</c:formatCode>
                <c:ptCount val="4"/>
                <c:pt idx="0">
                  <c:v>310</c:v>
                </c:pt>
                <c:pt idx="1">
                  <c:v>240</c:v>
                </c:pt>
                <c:pt idx="2">
                  <c:v>150</c:v>
                </c:pt>
                <c:pt idx="3">
                  <c:v>170</c:v>
                </c:pt>
              </c:numCache>
            </c:numRef>
          </c:val>
        </c:ser>
        <c:dLbls>
          <c:numFmt formatCode="#,##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325C"/>
                </a:solidFill>
                <a:latin typeface="+mn-lt"/>
              </a:defRPr>
            </a:pPr>
            <a:r>
              <a:rPr sz="1200" b="0" i="0" u="none" strike="noStrike">
                <a:solidFill>
                  <a:srgbClr val="14325C"/>
                </a:solidFill>
                <a:latin typeface="+mn-lt"/>
              </a:rPr>
              <a:t>Monthly Sales Trend (in thousands)</a:t>
            </a:r>
          </a:p>
        </c:rich>
      </c:tx>
      <c:layout/>
      <c:overlay val="0"/>
    </c:title>
    <c:autoTitleDeleted val="0"/>
    <c:plotArea>
      <c:layout/>
      <c:lineChart>
        <c:varyColors val="0"/>
        <c:ser>
          <c:idx val="0"/>
          <c:order val="0"/>
          <c:tx>
            <c:strRef>
              <c:f>Sheet1!$B$1</c:f>
              <c:strCache>
                <c:ptCount val="1"/>
                <c:pt idx="0">
                  <c:v>Sales</c:v>
                </c:pt>
              </c:strCache>
            </c:strRef>
          </c:tx>
          <c:spPr>
            <a:solidFill>
              <a:srgbClr val="2E6DB4"/>
            </a:solidFill>
            <a:ln w="31750" cap="flat">
              <a:solidFill>
                <a:srgbClr val="2E6DB4"/>
              </a:solidFill>
              <a:prstDash val="solid"/>
              <a:round/>
            </a:ln>
            <a:effectLst/>
          </c:spPr>
          <c:invertIfNegative val="0"/>
          <c:dLbls>
            <c:numFmt formatCode="#,##0" sourceLinked="0"/>
            <c:txPr>
              <a:bodyPr/>
              <a:lstStyle/>
              <a:p>
                <a:pPr>
                  <a:defRPr b="0" i="0" strike="noStrike" sz="1100" u="none">
                    <a:solidFill>
                      <a:srgbClr val="1F2933"/>
                    </a:solidFill>
                    <a:latin typeface="+mn-lt"/>
                  </a:defRPr>
                </a:pPr>
              </a:p>
            </c:txPr>
            <c:dLblPos val="t"/>
            <c:showLegendKey val="0"/>
            <c:showVal val="1"/>
            <c:showCatName val="0"/>
            <c:showSerName val="0"/>
            <c:showPercent val="0"/>
            <c:showBubbleSize val="0"/>
            <c:showLeaderLines val="0"/>
          </c:dLbls>
          <c:marker>
            <c:symbol val="circle"/>
            <c:size val="7"/>
            <c:spPr>
              <a:solidFill>
                <a:srgbClr val="2E6DB4"/>
              </a:solidFill>
              <a:ln w="9525" cap="flat">
                <a:solidFill>
                  <a:srgbClr val="2E6DB4"/>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120</c:v>
                </c:pt>
                <c:pt idx="1">
                  <c:v>135</c:v>
                </c:pt>
                <c:pt idx="2">
                  <c:v>128</c:v>
                </c:pt>
                <c:pt idx="3">
                  <c:v>150</c:v>
                </c:pt>
                <c:pt idx="4">
                  <c:v>162</c:v>
                </c:pt>
                <c:pt idx="5">
                  <c:v>175</c:v>
                </c:pt>
              </c:numCache>
            </c:numRef>
          </c:val>
          <c:smooth val="0"/>
        </c:ser>
        <c:dLbls>
          <c:numFmt formatCode="#,##0" sourceLinked="0"/>
          <c:txPr>
            <a:bodyPr/>
            <a:lstStyle/>
            <a:p>
              <a:pPr>
                <a:defRPr b="0" i="0" strike="noStrike" sz="1100" u="none">
                  <a:solidFill>
                    <a:srgbClr val="1F2933"/>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called AI Reporting System. It is a proposed system that can create reports from raw data automatically. In this presentation I will explain the problem, the idea, how it is designed and where it can be used.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 Reporting System is a software tool that prepares reports from data without much manual work. It reads the data, cleans it, calculates the important numbers and then uses an AI model to write a short summary. The diagram on the right shows this simple flow. For example, a shop owner can upload a monthly sales file and get a ready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most reports are made by hand in Excel and Word. This takes a lot of time and the same work is repeated every week or month. Small copy-paste mistakes can change the final numbers. Large tables are also hard to read, so managers may miss trends and take decisions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goals of the project. First we study how reports are made now. Then we plan a system that cleans data, calculates key numbers, uses AI for summaries and shows everything on a simple dashboard. The expected outcomes on the right are our targets, not final results, because the system is still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traditional method, one person does almost everything by hand. Data is collected from different files, cleaned in Excel, calculated using formulas and pivot tables, and then charts are pasted into Word or PowerPoint. Finally the person writes the summary and sends it by email. The example at the bottom shows a college office doing this for monthly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proposed system the user only uploads a file or connects a database. Python and Pandas clean the data and calculate the numbers. An LLM API then writes a short summary, and a Streamlit dashboard shows everything. The table on the right compares the old method with our proposed method. Note that the AI draft should always be checked by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limits of the project. The system is planned to read table-type data, clean it, calculate numbers, make charts and write a short AI summary. At the same time it has limits: it needs internet and an API key for the LLM, it is not for very large data, and it will have only a few fixed report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proposed architecture. The user works only with the Streamlit web interface. The uploaded data goes through five parts: data sources, data processing, analysis, the AI summary module and the report generator. A database at the bottom stores the processed data and old reports. The final report comes back to the user on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reporting process in six steps. The user uploads data, the system cleans it, analyzes it, asks the AI to write a summary, builds the report and finally the user reviews and downloads it. One design idea is to send only the key numbers to the LLM and not the whole file, which protects data and reduces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features planned for the system. Automated reporting saves time, data analysis gives the key numbers, AI summaries explain the findings in simple words, and charts make the data easy to see. Data cleaning and export options make the system practical for daily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realistic tools for building the system. Python is the main language and Pandas is used for data work. SQL databases store the data. An LLM API, for example from OpenAI or Anthropic, writes the summaries. Streamlit gives us a web dashboard using only Python. The final choice of tools may change when the project is actually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data is usually untidy. First the file is loaded into a Pandas DataFrame. Then we clean it by removing duplicates, fixing date formats and handling missing values. After that we group the data and calculate totals, averages and growth. The small tables on the right show a simple example of raw data and the same data after cleaning. The code is only an illustration.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mock-up of how the final report or dashboard could look. At the top we show four important numbers called KPIs. Below are two charts: sales by region and the monthly trend. At the bottom is the AI-written summary. All numbers here are dummy values just to show the layout. They are not real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idea can be used in many fields wherever people prepare regular reports. In business it can give weekly KPI reports. In education it can summarize attendance and marks. It can also help in finance, sales, healthcare and HR. In healthcare, patient data must be kept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main benefits: it saves time, reduces errors, keeps the format the same and can be reused. On the right are some practical challenges with ideas to handle them. For example, sensitive data should be masked before it is sent to an AI service, and the user should always see the key numbers next to the AI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possible improvements, grouped by time. In the near term we can support more input types and send reports by email. Next we can add a chat box to ask questions about the data and simple forecasting. In the long term the system could use live data, support more languages and have user login with different access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AI Reporting System is a proposed solution to make reporting faster, simpler and more accurate. It uses Python and Pandas for data work and an LLM for summaries. This project is currently a design and plan, so building and testing the full system is the next step. These are the references I used.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00200"/>
            <a:ext cx="6309360" cy="1920240"/>
          </a:xfrm>
          <a:prstGeom prst="rect">
            <a:avLst/>
          </a:prstGeom>
          <a:noFill/>
          <a:ln/>
        </p:spPr>
        <p:txBody>
          <a:bodyPr wrap="square" rtlCol="0"/>
          <a:lstStyle>
            <a:lvl1pPr algn="l" indent="0" marL="0">
              <a:buNone/>
              <a:defRPr lang="en-US" sz="5400" b="1" dirty="0">
                <a:solidFill>
                  <a:schemeClr val="tx2"/>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txBox="1"/>
          <p:nvPr/>
        </p:nvSpPr>
        <p:spPr>
          <a:xfrm>
            <a:off x="457200" y="6400800"/>
            <a:ext cx="5486400" cy="274320"/>
          </a:xfrm>
          <a:prstGeom prst="rect">
            <a:avLst/>
          </a:prstGeom>
          <a:noFill/>
          <a:ln/>
        </p:spPr>
        <p:txBody>
          <a:bodyPr wrap="square" lIns="0" tIns="0" rIns="0" bIns="0" rtlCol="0" anchor="ctr"/>
          <a:lstStyle/>
          <a:p>
            <a:pPr indent="0" marL="0">
              <a:buNone/>
            </a:pPr>
            <a:r>
              <a:rPr lang="en-US" sz="1100" dirty="0">
                <a:solidFill>
                  <a:schemeClr val="accent4"/>
                </a:solidFill>
              </a:rPr>
              <a:t>AI Reporting System</a:t>
            </a:r>
            <a:endParaRPr lang="en-US" sz="11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097280"/>
            <a:ext cx="630936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COLLEGE PROJECT PRESENTATION</a:t>
            </a:r>
            <a:endParaRPr lang="en-US" sz="1400" dirty="0"/>
          </a:p>
        </p:txBody>
      </p:sp>
      <p:sp>
        <p:nvSpPr>
          <p:cNvPr id="3" name="Text 0"/>
          <p:cNvSpPr/>
          <p:nvPr>
            <p:ph idx="100" type="title" hasCustomPrompt="1"/>
          </p:nvPr>
        </p:nvSpPr>
        <p:spPr>
          <a:xfrm>
            <a:off x="640080" y="1600200"/>
            <a:ext cx="6309360" cy="1920240"/>
          </a:xfrm>
          <a:prstGeom prst="rect">
            <a:avLst/>
          </a:prstGeom>
          <a:noFill/>
          <a:ln/>
        </p:spPr>
        <p:txBody>
          <a:bodyPr wrap="square" lIns="0" tIns="0" rIns="0" bIns="0" rtlCol="0" anchor="b"/>
          <a:lstStyle/>
          <a:p>
            <a:pPr algn="l" indent="0" marL="0">
              <a:buNone/>
            </a:pPr>
            <a:r>
              <a:rPr lang="en-US" sz="5400" b="1" dirty="0">
                <a:solidFill>
                  <a:schemeClr val="tx2"/>
                </a:solidFill>
              </a:rPr>
              <a:t>AI Reporting System</a:t>
            </a:r>
            <a:endParaRPr lang="en-US" sz="5400" dirty="0"/>
          </a:p>
        </p:txBody>
      </p:sp>
      <p:sp>
        <p:nvSpPr>
          <p:cNvPr id="4" name="Text 2"/>
          <p:cNvSpPr txBox="1"/>
          <p:nvPr/>
        </p:nvSpPr>
        <p:spPr>
          <a:xfrm>
            <a:off x="640080" y="3749040"/>
            <a:ext cx="6035040" cy="914400"/>
          </a:xfrm>
          <a:prstGeom prst="rect">
            <a:avLst/>
          </a:prstGeom>
          <a:noFill/>
          <a:ln/>
        </p:spPr>
        <p:txBody>
          <a:bodyPr wrap="square" lIns="0" tIns="0" rIns="0" bIns="0" rtlCol="0" anchor="t"/>
          <a:lstStyle/>
          <a:p>
            <a:pPr indent="0" marL="0">
              <a:buNone/>
            </a:pPr>
            <a:r>
              <a:rPr lang="en-US" sz="2000" dirty="0">
                <a:solidFill>
                  <a:schemeClr val="tx1"/>
                </a:solidFill>
              </a:rPr>
              <a:t>A proposed system that turns raw data into ready-to-use reports with the help of Python and AI</a:t>
            </a:r>
            <a:endParaRPr lang="en-US" sz="2000" dirty="0"/>
          </a:p>
        </p:txBody>
      </p:sp>
      <p:sp>
        <p:nvSpPr>
          <p:cNvPr id="5" name="Details Card"/>
          <p:cNvSpPr txBox="1"/>
          <p:nvPr/>
        </p:nvSpPr>
        <p:spPr>
          <a:xfrm>
            <a:off x="7589520" y="1188720"/>
            <a:ext cx="4114800" cy="4480560"/>
          </a:xfrm>
          <a:prstGeom prst="roundRect">
            <a:avLst>
              <a:gd name="adj" fmla="val 1778"/>
            </a:avLst>
          </a:prstGeom>
          <a:solidFill>
            <a:schemeClr val="bg2"/>
          </a:solidFill>
          <a:ln w="9525">
            <a:solidFill>
              <a:srgbClr val="C9D8EC"/>
            </a:solidFill>
          </a:ln>
        </p:spPr>
        <p:txBody>
          <a:bodyPr wrap="square" lIns="228600" tIns="228600" rIns="228600" bIns="228600" rtlCol="0" anchor="t"/>
          <a:lstStyle/>
          <a:p>
            <a:pPr indent="0" marL="0">
              <a:spcAft>
                <a:spcPts val="1200"/>
              </a:spcAft>
              <a:buNone/>
            </a:pPr>
            <a:r>
              <a:rPr lang="en-US" sz="2000" b="1" dirty="0">
                <a:solidFill>
                  <a:schemeClr val="tx2"/>
                </a:solidFill>
              </a:rPr>
              <a:t>Project Details</a:t>
            </a:r>
            <a:endParaRPr lang="en-US" sz="2000" dirty="0"/>
          </a:p>
          <a:p>
            <a:pPr indent="0" marL="0">
              <a:buNone/>
            </a:pPr>
            <a:r>
              <a:rPr lang="en-US" sz="1200" b="1" dirty="0">
                <a:solidFill>
                  <a:schemeClr val="accent4"/>
                </a:solidFill>
              </a:rPr>
              <a:t>STUDENT NAME</a:t>
            </a:r>
            <a:endParaRPr lang="en-US" sz="2000" dirty="0"/>
          </a:p>
          <a:p>
            <a:pPr indent="0" marL="0">
              <a:spcAft>
                <a:spcPts val="900"/>
              </a:spcAft>
              <a:buNone/>
            </a:pPr>
            <a:r>
              <a:rPr lang="en-US" sz="1800" dirty="0">
                <a:solidFill>
                  <a:schemeClr val="tx1"/>
                </a:solidFill>
              </a:rPr>
              <a:t>Ananya Gupta</a:t>
            </a:r>
            <a:endParaRPr lang="en-US" sz="2000" dirty="0"/>
          </a:p>
          <a:p>
            <a:pPr indent="0" marL="0">
              <a:buNone/>
            </a:pPr>
            <a:r>
              <a:rPr lang="en-US" sz="1200" b="1" dirty="0">
                <a:solidFill>
                  <a:schemeClr val="accent4"/>
                </a:solidFill>
              </a:rPr>
              <a:t>ROLL NUMBER</a:t>
            </a:r>
            <a:endParaRPr lang="en-US" sz="2000" dirty="0"/>
          </a:p>
          <a:p>
            <a:pPr indent="0" marL="0">
              <a:spcAft>
                <a:spcPts val="900"/>
              </a:spcAft>
              <a:buNone/>
            </a:pPr>
            <a:r>
              <a:rPr lang="en-US" sz="1800" dirty="0">
                <a:solidFill>
                  <a:schemeClr val="tx1"/>
                </a:solidFill>
              </a:rPr>
              <a:t>2403611650014</a:t>
            </a:r>
            <a:endParaRPr lang="en-US" sz="2000" dirty="0"/>
          </a:p>
          <a:p>
            <a:pPr indent="0" marL="0">
              <a:buNone/>
            </a:pPr>
            <a:r>
              <a:rPr lang="en-US" sz="1200" b="1" dirty="0">
                <a:solidFill>
                  <a:schemeClr val="accent4"/>
                </a:solidFill>
              </a:rPr>
              <a:t>COURSE</a:t>
            </a:r>
            <a:endParaRPr lang="en-US" sz="2000" dirty="0"/>
          </a:p>
          <a:p>
            <a:pPr indent="0" marL="0">
              <a:spcAft>
                <a:spcPts val="900"/>
              </a:spcAft>
              <a:buNone/>
            </a:pPr>
            <a:r>
              <a:rPr lang="en-US" sz="1800" dirty="0">
                <a:solidFill>
                  <a:schemeClr val="tx1"/>
                </a:solidFill>
              </a:rPr>
              <a:t>B.Tech (CSD)</a:t>
            </a:r>
            <a:endParaRPr lang="en-US" sz="2000" dirty="0"/>
          </a:p>
          <a:p>
            <a:pPr indent="0" marL="0">
              <a:buNone/>
            </a:pPr>
            <a:r>
              <a:rPr lang="en-US" sz="1200" b="1" dirty="0">
                <a:solidFill>
                  <a:schemeClr val="accent4"/>
                </a:solidFill>
              </a:rPr>
              <a:t>COLLEGE</a:t>
            </a:r>
            <a:endParaRPr lang="en-US" sz="2000" dirty="0"/>
          </a:p>
          <a:p>
            <a:pPr indent="0" marL="0">
              <a:spcAft>
                <a:spcPts val="900"/>
              </a:spcAft>
              <a:buNone/>
            </a:pPr>
            <a:r>
              <a:rPr lang="en-US" sz="1800" dirty="0">
                <a:solidFill>
                  <a:schemeClr val="tx1"/>
                </a:solidFill>
              </a:rPr>
              <a:t>RRGI</a:t>
            </a:r>
            <a:endParaRPr lang="en-US" sz="2000" dirty="0"/>
          </a:p>
          <a:p>
            <a:pPr indent="0" marL="0">
              <a:buNone/>
            </a:pPr>
            <a:r>
              <a:rPr lang="en-US" sz="1200" b="1" dirty="0">
                <a:solidFill>
                  <a:schemeClr val="accent4"/>
                </a:solidFill>
              </a:rPr>
              <a:t>SESSION</a:t>
            </a:r>
            <a:endParaRPr lang="en-US" sz="2000" dirty="0"/>
          </a:p>
          <a:p>
            <a:pPr indent="0" marL="0">
              <a:spcAft>
                <a:spcPts val="900"/>
              </a:spcAft>
              <a:buNone/>
            </a:pPr>
            <a:r>
              <a:rPr lang="en-US" sz="1800" dirty="0">
                <a:solidFill>
                  <a:schemeClr val="tx1"/>
                </a:solidFill>
              </a:rPr>
              <a:t>2026–2027</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Introduction</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What is an AI Reporting System?</a:t>
            </a:r>
            <a:endParaRPr lang="en-US" sz="1800" dirty="0"/>
          </a:p>
        </p:txBody>
      </p:sp>
      <p:sp>
        <p:nvSpPr>
          <p:cNvPr id="5" name="Text 2"/>
          <p:cNvSpPr txBox="1"/>
          <p:nvPr/>
        </p:nvSpPr>
        <p:spPr>
          <a:xfrm>
            <a:off x="457200" y="1508760"/>
            <a:ext cx="6309360" cy="4572000"/>
          </a:xfrm>
          <a:prstGeom prst="rect">
            <a:avLst/>
          </a:prstGeom>
          <a:noFill/>
          <a:ln/>
        </p:spPr>
        <p:txBody>
          <a:bodyPr wrap="square" lIns="0" tIns="0" rIns="0" bIns="0" rtlCol="0" anchor="t"/>
          <a:lstStyle/>
          <a:p>
            <a:pPr algn="l" marL="203200" indent="-203200">
              <a:spcAft>
                <a:spcPts val="800"/>
              </a:spcAft>
              <a:buSzPct val="100000"/>
              <a:buChar char="•"/>
            </a:pPr>
            <a:r>
              <a:rPr lang="en-US" sz="1900" b="1" dirty="0">
                <a:solidFill>
                  <a:schemeClr val="tx2"/>
                </a:solidFill>
              </a:rPr>
              <a:t>AI Reporting System</a:t>
            </a:r>
            <a:pPr algn="l" marL="203200" indent="-203200">
              <a:spcAft>
                <a:spcPts val="800"/>
              </a:spcAft>
              <a:buSzPct val="100000"/>
              <a:buChar char="•"/>
            </a:pPr>
            <a:r>
              <a:rPr lang="en-US" sz="1900" dirty="0">
                <a:solidFill>
                  <a:schemeClr val="tx1"/>
                </a:solidFill>
              </a:rPr>
              <a:t> is a tool that creates reports from raw data with very little manual work</a:t>
            </a:r>
            <a:endParaRPr lang="en-US" sz="1900" dirty="0"/>
          </a:p>
          <a:p>
            <a:pPr algn="l" marL="203200" indent="-203200">
              <a:spcAft>
                <a:spcPts val="800"/>
              </a:spcAft>
              <a:buSzPct val="100000"/>
              <a:buChar char="•"/>
            </a:pPr>
            <a:r>
              <a:rPr lang="en-US" sz="1900" b="1" dirty="0">
                <a:solidFill>
                  <a:schemeClr val="tx2"/>
                </a:solidFill>
              </a:rPr>
              <a:t>Reads data</a:t>
            </a:r>
            <a:pPr algn="l" marL="203200" indent="-203200">
              <a:spcAft>
                <a:spcPts val="800"/>
              </a:spcAft>
              <a:buSzPct val="100000"/>
              <a:buChar char="•"/>
            </a:pPr>
            <a:r>
              <a:rPr lang="en-US" sz="1900" dirty="0">
                <a:solidFill>
                  <a:schemeClr val="tx1"/>
                </a:solidFill>
              </a:rPr>
              <a:t> from Excel/CSV files or a database</a:t>
            </a:r>
            <a:endParaRPr lang="en-US" sz="1900" dirty="0"/>
          </a:p>
          <a:p>
            <a:pPr algn="l" marL="203200" indent="-203200">
              <a:spcAft>
                <a:spcPts val="800"/>
              </a:spcAft>
              <a:buSzPct val="100000"/>
              <a:buChar char="•"/>
            </a:pPr>
            <a:r>
              <a:rPr lang="en-US" sz="1900" b="1" dirty="0">
                <a:solidFill>
                  <a:schemeClr val="tx2"/>
                </a:solidFill>
              </a:rPr>
              <a:t>Python code</a:t>
            </a:r>
            <a:pPr algn="l" marL="203200" indent="-203200">
              <a:spcAft>
                <a:spcPts val="800"/>
              </a:spcAft>
              <a:buSzPct val="100000"/>
              <a:buChar char="•"/>
            </a:pPr>
            <a:r>
              <a:rPr lang="en-US" sz="1900" dirty="0">
                <a:solidFill>
                  <a:schemeClr val="tx1"/>
                </a:solidFill>
              </a:rPr>
              <a:t> cleans the data and calculates totals, averages and trends</a:t>
            </a:r>
            <a:endParaRPr lang="en-US" sz="1900" dirty="0"/>
          </a:p>
          <a:p>
            <a:pPr algn="l" marL="203200" indent="-203200">
              <a:spcAft>
                <a:spcPts val="800"/>
              </a:spcAft>
              <a:buSzPct val="100000"/>
              <a:buChar char="•"/>
            </a:pPr>
            <a:r>
              <a:rPr lang="en-US" sz="1900" b="1" dirty="0">
                <a:solidFill>
                  <a:schemeClr val="tx2"/>
                </a:solidFill>
              </a:rPr>
              <a:t>An AI (LLM) model</a:t>
            </a:r>
            <a:pPr algn="l" marL="203200" indent="-203200">
              <a:spcAft>
                <a:spcPts val="800"/>
              </a:spcAft>
              <a:buSzPct val="100000"/>
              <a:buChar char="•"/>
            </a:pPr>
            <a:r>
              <a:rPr lang="en-US" sz="1900" dirty="0">
                <a:solidFill>
                  <a:schemeClr val="tx1"/>
                </a:solidFill>
              </a:rPr>
              <a:t> writes a short summary in plain English</a:t>
            </a:r>
            <a:endParaRPr lang="en-US" sz="1900" dirty="0"/>
          </a:p>
          <a:p>
            <a:pPr algn="l" marL="203200" indent="-203200">
              <a:spcAft>
                <a:spcPts val="800"/>
              </a:spcAft>
              <a:buSzPct val="100000"/>
              <a:buChar char="•"/>
            </a:pPr>
            <a:r>
              <a:rPr lang="en-US" sz="1900" b="1" dirty="0">
                <a:solidFill>
                  <a:schemeClr val="tx2"/>
                </a:solidFill>
              </a:rPr>
              <a:t>Output:</a:t>
            </a:r>
            <a:pPr algn="l" marL="203200" indent="-203200">
              <a:spcAft>
                <a:spcPts val="800"/>
              </a:spcAft>
              <a:buSzPct val="100000"/>
              <a:buChar char="•"/>
            </a:pPr>
            <a:r>
              <a:rPr lang="en-US" sz="1900" dirty="0">
                <a:solidFill>
                  <a:schemeClr val="tx1"/>
                </a:solidFill>
              </a:rPr>
              <a:t> a report or dashboard that the user can download</a:t>
            </a:r>
            <a:endParaRPr lang="en-US" sz="1900" dirty="0"/>
          </a:p>
          <a:p>
            <a:pPr algn="l" marL="203200" indent="-203200">
              <a:spcAft>
                <a:spcPts val="800"/>
              </a:spcAft>
              <a:buSzPct val="100000"/>
              <a:buChar char="•"/>
            </a:pPr>
            <a:r>
              <a:rPr lang="en-US" sz="1900" b="1" dirty="0">
                <a:solidFill>
                  <a:schemeClr val="tx2"/>
                </a:solidFill>
              </a:rPr>
              <a:t>Example:</a:t>
            </a:r>
            <a:pPr algn="l" marL="203200" indent="-203200">
              <a:spcAft>
                <a:spcPts val="800"/>
              </a:spcAft>
              <a:buSzPct val="100000"/>
              <a:buChar char="•"/>
            </a:pPr>
            <a:r>
              <a:rPr lang="en-US" sz="1900" dirty="0">
                <a:solidFill>
                  <a:schemeClr val="tx1"/>
                </a:solidFill>
              </a:rPr>
              <a:t> a shop owner uploads a monthly sales file and gets a report with charts and a summary</a:t>
            </a:r>
            <a:endParaRPr lang="en-US" sz="1900" dirty="0"/>
          </a:p>
        </p:txBody>
      </p:sp>
      <p:sp>
        <p:nvSpPr>
          <p:cNvPr id="6" name="Raw Data"/>
          <p:cNvSpPr txBox="1"/>
          <p:nvPr/>
        </p:nvSpPr>
        <p:spPr>
          <a:xfrm>
            <a:off x="7315200" y="1508760"/>
            <a:ext cx="4389120" cy="868680"/>
          </a:xfrm>
          <a:prstGeom prst="roundRect">
            <a:avLst>
              <a:gd name="adj" fmla="val 8421"/>
            </a:avLst>
          </a:prstGeom>
          <a:solidFill>
            <a:schemeClr val="bg2"/>
          </a:solidFill>
          <a:ln w="12700">
            <a:solidFill>
              <a:srgbClr val="C9D8EC"/>
            </a:solidFill>
          </a:ln>
        </p:spPr>
        <p:txBody>
          <a:bodyPr wrap="square" lIns="76200" tIns="76200" rIns="76200" bIns="76200" rtlCol="0" anchor="ctr"/>
          <a:lstStyle/>
          <a:p>
            <a:pPr algn="ctr" indent="0" marL="0">
              <a:buNone/>
            </a:pPr>
            <a:r>
              <a:rPr lang="en-US" sz="1700" b="1" dirty="0">
                <a:solidFill>
                  <a:schemeClr val="tx2"/>
                </a:solidFill>
              </a:rPr>
              <a:t>Raw Data</a:t>
            </a:r>
            <a:endParaRPr lang="en-US" sz="1700" dirty="0"/>
          </a:p>
          <a:p>
            <a:pPr algn="ctr" indent="0" marL="0">
              <a:buNone/>
            </a:pPr>
            <a:r>
              <a:rPr lang="en-US" sz="1400" dirty="0">
                <a:solidFill>
                  <a:schemeClr val="tx1"/>
                </a:solidFill>
              </a:rPr>
              <a:t>Excel, CSV or SQL database</a:t>
            </a:r>
            <a:endParaRPr lang="en-US" sz="1700" dirty="0"/>
          </a:p>
        </p:txBody>
      </p:sp>
      <p:sp>
        <p:nvSpPr>
          <p:cNvPr id="7" name="Shape 4"/>
          <p:cNvSpPr/>
          <p:nvPr/>
        </p:nvSpPr>
        <p:spPr>
          <a:xfrm>
            <a:off x="9509760" y="2377440"/>
            <a:ext cx="0" cy="365760"/>
          </a:xfrm>
          <a:prstGeom prst="line">
            <a:avLst/>
          </a:prstGeom>
          <a:noFill/>
          <a:ln w="25400">
            <a:solidFill>
              <a:schemeClr val="accent4"/>
            </a:solidFill>
            <a:prstDash val="solid"/>
            <a:tailEnd type="triangle"/>
          </a:ln>
        </p:spPr>
      </p:sp>
      <p:sp>
        <p:nvSpPr>
          <p:cNvPr id="8" name="Python + Pandas"/>
          <p:cNvSpPr txBox="1"/>
          <p:nvPr/>
        </p:nvSpPr>
        <p:spPr>
          <a:xfrm>
            <a:off x="7315200" y="2743200"/>
            <a:ext cx="4389120" cy="868680"/>
          </a:xfrm>
          <a:prstGeom prst="roundRect">
            <a:avLst>
              <a:gd name="adj" fmla="val 8421"/>
            </a:avLst>
          </a:prstGeom>
          <a:solidFill>
            <a:schemeClr val="bg2"/>
          </a:solidFill>
          <a:ln w="12700">
            <a:solidFill>
              <a:srgbClr val="C9D8EC"/>
            </a:solidFill>
          </a:ln>
        </p:spPr>
        <p:txBody>
          <a:bodyPr wrap="square" lIns="76200" tIns="76200" rIns="76200" bIns="76200" rtlCol="0" anchor="ctr"/>
          <a:lstStyle/>
          <a:p>
            <a:pPr algn="ctr" indent="0" marL="0">
              <a:buNone/>
            </a:pPr>
            <a:r>
              <a:rPr lang="en-US" sz="1700" b="1" dirty="0">
                <a:solidFill>
                  <a:schemeClr val="tx2"/>
                </a:solidFill>
              </a:rPr>
              <a:t>Python + Pandas</a:t>
            </a:r>
            <a:endParaRPr lang="en-US" sz="1700" dirty="0"/>
          </a:p>
          <a:p>
            <a:pPr algn="ctr" indent="0" marL="0">
              <a:buNone/>
            </a:pPr>
            <a:r>
              <a:rPr lang="en-US" sz="1400" dirty="0">
                <a:solidFill>
                  <a:schemeClr val="tx1"/>
                </a:solidFill>
              </a:rPr>
              <a:t>Cleans and analyzes the data</a:t>
            </a:r>
            <a:endParaRPr lang="en-US" sz="1700" dirty="0"/>
          </a:p>
        </p:txBody>
      </p:sp>
      <p:sp>
        <p:nvSpPr>
          <p:cNvPr id="9" name="Shape 6"/>
          <p:cNvSpPr/>
          <p:nvPr/>
        </p:nvSpPr>
        <p:spPr>
          <a:xfrm>
            <a:off x="9509760" y="3611880"/>
            <a:ext cx="0" cy="365760"/>
          </a:xfrm>
          <a:prstGeom prst="line">
            <a:avLst/>
          </a:prstGeom>
          <a:noFill/>
          <a:ln w="25400">
            <a:solidFill>
              <a:schemeClr val="accent4"/>
            </a:solidFill>
            <a:prstDash val="solid"/>
            <a:tailEnd type="triangle"/>
          </a:ln>
        </p:spPr>
      </p:sp>
      <p:sp>
        <p:nvSpPr>
          <p:cNvPr id="10" name="AI (LLM) Model"/>
          <p:cNvSpPr txBox="1"/>
          <p:nvPr/>
        </p:nvSpPr>
        <p:spPr>
          <a:xfrm>
            <a:off x="7315200" y="3977640"/>
            <a:ext cx="4389120" cy="868680"/>
          </a:xfrm>
          <a:prstGeom prst="roundRect">
            <a:avLst>
              <a:gd name="adj" fmla="val 8421"/>
            </a:avLst>
          </a:prstGeom>
          <a:solidFill>
            <a:schemeClr val="bg2"/>
          </a:solidFill>
          <a:ln w="12700">
            <a:solidFill>
              <a:srgbClr val="C9D8EC"/>
            </a:solidFill>
          </a:ln>
        </p:spPr>
        <p:txBody>
          <a:bodyPr wrap="square" lIns="76200" tIns="76200" rIns="76200" bIns="76200" rtlCol="0" anchor="ctr"/>
          <a:lstStyle/>
          <a:p>
            <a:pPr algn="ctr" indent="0" marL="0">
              <a:buNone/>
            </a:pPr>
            <a:r>
              <a:rPr lang="en-US" sz="1700" b="1" dirty="0">
                <a:solidFill>
                  <a:schemeClr val="tx2"/>
                </a:solidFill>
              </a:rPr>
              <a:t>AI (LLM) Model</a:t>
            </a:r>
            <a:endParaRPr lang="en-US" sz="1700" dirty="0"/>
          </a:p>
          <a:p>
            <a:pPr algn="ctr" indent="0" marL="0">
              <a:buNone/>
            </a:pPr>
            <a:r>
              <a:rPr lang="en-US" sz="1400" dirty="0">
                <a:solidFill>
                  <a:schemeClr val="tx1"/>
                </a:solidFill>
              </a:rPr>
              <a:t>Writes the summary text</a:t>
            </a:r>
            <a:endParaRPr lang="en-US" sz="1700" dirty="0"/>
          </a:p>
        </p:txBody>
      </p:sp>
      <p:sp>
        <p:nvSpPr>
          <p:cNvPr id="11" name="Shape 8"/>
          <p:cNvSpPr/>
          <p:nvPr/>
        </p:nvSpPr>
        <p:spPr>
          <a:xfrm>
            <a:off x="9509760" y="4846320"/>
            <a:ext cx="0" cy="365760"/>
          </a:xfrm>
          <a:prstGeom prst="line">
            <a:avLst/>
          </a:prstGeom>
          <a:noFill/>
          <a:ln w="25400">
            <a:solidFill>
              <a:schemeClr val="accent4"/>
            </a:solidFill>
            <a:prstDash val="solid"/>
            <a:tailEnd type="triangle"/>
          </a:ln>
        </p:spPr>
      </p:sp>
      <p:sp>
        <p:nvSpPr>
          <p:cNvPr id="12" name="Report / Dashboard"/>
          <p:cNvSpPr txBox="1"/>
          <p:nvPr/>
        </p:nvSpPr>
        <p:spPr>
          <a:xfrm>
            <a:off x="7315200" y="5212080"/>
            <a:ext cx="4389120" cy="868680"/>
          </a:xfrm>
          <a:prstGeom prst="roundRect">
            <a:avLst>
              <a:gd name="adj" fmla="val 8421"/>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1700" b="1" dirty="0">
                <a:solidFill>
                  <a:schemeClr val="bg1"/>
                </a:solidFill>
              </a:rPr>
              <a:t>Report / Dashboard</a:t>
            </a:r>
            <a:endParaRPr lang="en-US" sz="1700" dirty="0"/>
          </a:p>
          <a:p>
            <a:pPr algn="ctr" indent="0" marL="0">
              <a:buNone/>
            </a:pPr>
            <a:r>
              <a:rPr lang="en-US" sz="1400" dirty="0">
                <a:solidFill>
                  <a:schemeClr val="bg1"/>
                </a:solidFill>
              </a:rPr>
              <a:t>Charts, tables and summary</a:t>
            </a:r>
            <a:endParaRPr lang="en-US" sz="17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Problem Statement</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Manual reporting is slow, error-prone and repetitive</a:t>
            </a:r>
            <a:endParaRPr lang="en-US" sz="1800" dirty="0"/>
          </a:p>
        </p:txBody>
      </p:sp>
      <p:sp>
        <p:nvSpPr>
          <p:cNvPr id="5" name="Problem 1"/>
          <p:cNvSpPr txBox="1"/>
          <p:nvPr/>
        </p:nvSpPr>
        <p:spPr>
          <a:xfrm>
            <a:off x="457200" y="1508760"/>
            <a:ext cx="3611880" cy="1783080"/>
          </a:xfrm>
          <a:prstGeom prst="roundRect">
            <a:avLst>
              <a:gd name="adj" fmla="val 4103"/>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Time-consuming</a:t>
            </a:r>
            <a:endParaRPr lang="en-US" sz="2100" dirty="0"/>
          </a:p>
          <a:p>
            <a:pPr indent="0" marL="0">
              <a:buNone/>
            </a:pPr>
            <a:r>
              <a:rPr lang="en-US" sz="1800" dirty="0">
                <a:solidFill>
                  <a:schemeClr val="tx1"/>
                </a:solidFill>
              </a:rPr>
              <a:t>Collecting, copying and formatting data takes hours every week.</a:t>
            </a:r>
            <a:endParaRPr lang="en-US" sz="2100" dirty="0"/>
          </a:p>
        </p:txBody>
      </p:sp>
      <p:sp>
        <p:nvSpPr>
          <p:cNvPr id="6" name="Problem 2"/>
          <p:cNvSpPr txBox="1"/>
          <p:nvPr/>
        </p:nvSpPr>
        <p:spPr>
          <a:xfrm>
            <a:off x="4274820" y="1508760"/>
            <a:ext cx="3611880" cy="1783080"/>
          </a:xfrm>
          <a:prstGeom prst="roundRect">
            <a:avLst>
              <a:gd name="adj" fmla="val 4103"/>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Human errors</a:t>
            </a:r>
            <a:endParaRPr lang="en-US" sz="2100" dirty="0"/>
          </a:p>
          <a:p>
            <a:pPr indent="0" marL="0">
              <a:buNone/>
            </a:pPr>
            <a:r>
              <a:rPr lang="en-US" sz="1800" dirty="0">
                <a:solidFill>
                  <a:schemeClr val="tx1"/>
                </a:solidFill>
              </a:rPr>
              <a:t>A wrong formula or copy-paste mistake can change the final numbers.</a:t>
            </a:r>
            <a:endParaRPr lang="en-US" sz="2100" dirty="0"/>
          </a:p>
        </p:txBody>
      </p:sp>
      <p:sp>
        <p:nvSpPr>
          <p:cNvPr id="7" name="Problem 3"/>
          <p:cNvSpPr txBox="1"/>
          <p:nvPr/>
        </p:nvSpPr>
        <p:spPr>
          <a:xfrm>
            <a:off x="8092440" y="1508760"/>
            <a:ext cx="3611880" cy="1783080"/>
          </a:xfrm>
          <a:prstGeom prst="roundRect">
            <a:avLst>
              <a:gd name="adj" fmla="val 4103"/>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Repeated work</a:t>
            </a:r>
            <a:endParaRPr lang="en-US" sz="2100" dirty="0"/>
          </a:p>
          <a:p>
            <a:pPr indent="0" marL="0">
              <a:buNone/>
            </a:pPr>
            <a:r>
              <a:rPr lang="en-US" sz="1800" dirty="0">
                <a:solidFill>
                  <a:schemeClr val="tx1"/>
                </a:solidFill>
              </a:rPr>
              <a:t>The same report has to be rebuilt again for every new week or month.</a:t>
            </a:r>
            <a:endParaRPr lang="en-US" sz="2100" dirty="0"/>
          </a:p>
        </p:txBody>
      </p:sp>
      <p:sp>
        <p:nvSpPr>
          <p:cNvPr id="8" name="Problem 4"/>
          <p:cNvSpPr txBox="1"/>
          <p:nvPr/>
        </p:nvSpPr>
        <p:spPr>
          <a:xfrm>
            <a:off x="457200" y="3474720"/>
            <a:ext cx="3611880" cy="1783080"/>
          </a:xfrm>
          <a:prstGeom prst="roundRect">
            <a:avLst>
              <a:gd name="adj" fmla="val 4103"/>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Hard to see trends</a:t>
            </a:r>
            <a:endParaRPr lang="en-US" sz="2100" dirty="0"/>
          </a:p>
          <a:p>
            <a:pPr indent="0" marL="0">
              <a:buNone/>
            </a:pPr>
            <a:r>
              <a:rPr lang="en-US" sz="1800" dirty="0">
                <a:solidFill>
                  <a:schemeClr val="tx1"/>
                </a:solidFill>
              </a:rPr>
              <a:t>Long tables are difficult to read, so patterns are easily missed.</a:t>
            </a:r>
            <a:endParaRPr lang="en-US" sz="2100" dirty="0"/>
          </a:p>
        </p:txBody>
      </p:sp>
      <p:sp>
        <p:nvSpPr>
          <p:cNvPr id="9" name="Problem 5"/>
          <p:cNvSpPr txBox="1"/>
          <p:nvPr/>
        </p:nvSpPr>
        <p:spPr>
          <a:xfrm>
            <a:off x="4274820" y="3474720"/>
            <a:ext cx="3611880" cy="1783080"/>
          </a:xfrm>
          <a:prstGeom prst="roundRect">
            <a:avLst>
              <a:gd name="adj" fmla="val 4103"/>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Delayed decisions</a:t>
            </a:r>
            <a:endParaRPr lang="en-US" sz="2100" dirty="0"/>
          </a:p>
          <a:p>
            <a:pPr indent="0" marL="0">
              <a:buNone/>
            </a:pPr>
            <a:r>
              <a:rPr lang="en-US" sz="1800" dirty="0">
                <a:solidFill>
                  <a:schemeClr val="tx1"/>
                </a:solidFill>
              </a:rPr>
              <a:t>Managers must wait for the report before they can act.</a:t>
            </a:r>
            <a:endParaRPr lang="en-US" sz="2100" dirty="0"/>
          </a:p>
        </p:txBody>
      </p:sp>
      <p:sp>
        <p:nvSpPr>
          <p:cNvPr id="10" name="Problem 6"/>
          <p:cNvSpPr txBox="1"/>
          <p:nvPr/>
        </p:nvSpPr>
        <p:spPr>
          <a:xfrm>
            <a:off x="8092440" y="3474720"/>
            <a:ext cx="3611880" cy="1783080"/>
          </a:xfrm>
          <a:prstGeom prst="roundRect">
            <a:avLst>
              <a:gd name="adj" fmla="val 4103"/>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Inconsistent format</a:t>
            </a:r>
            <a:endParaRPr lang="en-US" sz="2100" dirty="0"/>
          </a:p>
          <a:p>
            <a:pPr indent="0" marL="0">
              <a:buNone/>
            </a:pPr>
            <a:r>
              <a:rPr lang="en-US" sz="1800" dirty="0">
                <a:solidFill>
                  <a:schemeClr val="tx1"/>
                </a:solidFill>
              </a:rPr>
              <a:t>Different people make the same report in different styles.</a:t>
            </a:r>
            <a:endParaRPr lang="en-US" sz="2100" dirty="0"/>
          </a:p>
        </p:txBody>
      </p:sp>
      <p:sp>
        <p:nvSpPr>
          <p:cNvPr id="11" name="Need Statement"/>
          <p:cNvSpPr txBox="1"/>
          <p:nvPr/>
        </p:nvSpPr>
        <p:spPr>
          <a:xfrm>
            <a:off x="457200" y="5486400"/>
            <a:ext cx="11247120" cy="640080"/>
          </a:xfrm>
          <a:prstGeom prst="roundRect">
            <a:avLst>
              <a:gd name="adj" fmla="val 11429"/>
            </a:avLst>
          </a:prstGeom>
          <a:solidFill>
            <a:schemeClr val="tx2"/>
          </a:solidFill>
          <a:ln/>
        </p:spPr>
        <p:txBody>
          <a:bodyPr wrap="square" lIns="177800" tIns="177800" rIns="177800" bIns="177800" rtlCol="0" anchor="ctr"/>
          <a:lstStyle/>
          <a:p>
            <a:pPr indent="0" marL="0">
              <a:buNone/>
            </a:pPr>
            <a:r>
              <a:rPr lang="en-US" sz="1600" b="1" dirty="0">
                <a:solidFill>
                  <a:schemeClr val="bg1"/>
                </a:solidFill>
              </a:rPr>
              <a:t>Need: </a:t>
            </a:r>
            <a:pPr indent="0" marL="0">
              <a:buNone/>
            </a:pPr>
            <a:r>
              <a:rPr lang="en-US" sz="1600" dirty="0">
                <a:solidFill>
                  <a:schemeClr val="bg1"/>
                </a:solidFill>
              </a:rPr>
              <a:t>a simple system that turns raw data into clear and accurate reports automatically.</a:t>
            </a:r>
            <a:endParaRPr lang="en-US" sz="16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Objectives of the Project</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What we want to achieve</a:t>
            </a:r>
            <a:endParaRPr lang="en-US" sz="1800" dirty="0"/>
          </a:p>
        </p:txBody>
      </p:sp>
      <p:sp>
        <p:nvSpPr>
          <p:cNvPr id="5" name="Text 2"/>
          <p:cNvSpPr txBox="1"/>
          <p:nvPr/>
        </p:nvSpPr>
        <p:spPr>
          <a:xfrm>
            <a:off x="457200" y="1508760"/>
            <a:ext cx="6766560" cy="411480"/>
          </a:xfrm>
          <a:prstGeom prst="rect">
            <a:avLst/>
          </a:prstGeom>
          <a:noFill/>
          <a:ln/>
        </p:spPr>
        <p:txBody>
          <a:bodyPr wrap="square" lIns="0" tIns="0" rIns="0" bIns="0" rtlCol="0" anchor="ctr"/>
          <a:lstStyle/>
          <a:p>
            <a:pPr indent="0" marL="0">
              <a:buNone/>
            </a:pPr>
            <a:r>
              <a:rPr lang="en-US" sz="2200" b="1" dirty="0">
                <a:solidFill>
                  <a:schemeClr val="tx2"/>
                </a:solidFill>
              </a:rPr>
              <a:t>Main Objectives</a:t>
            </a:r>
            <a:endParaRPr lang="en-US" sz="2200" dirty="0"/>
          </a:p>
        </p:txBody>
      </p:sp>
      <p:sp>
        <p:nvSpPr>
          <p:cNvPr id="6" name="Text 3"/>
          <p:cNvSpPr txBox="1"/>
          <p:nvPr/>
        </p:nvSpPr>
        <p:spPr>
          <a:xfrm>
            <a:off x="457200" y="2057400"/>
            <a:ext cx="6766560" cy="3931920"/>
          </a:xfrm>
          <a:prstGeom prst="rect">
            <a:avLst/>
          </a:prstGeom>
          <a:noFill/>
          <a:ln/>
        </p:spPr>
        <p:txBody>
          <a:bodyPr wrap="square" lIns="0" tIns="0" rIns="0" bIns="0" rtlCol="0" anchor="t"/>
          <a:lstStyle/>
          <a:p>
            <a:pPr algn="l" marL="342900" indent="-342900">
              <a:spcAft>
                <a:spcPts val="1200"/>
              </a:spcAft>
              <a:buSzPct val="100000"/>
              <a:buFont typeface="+mj-lt"/>
              <a:buAutoNum type="arabicPeriod" startAt="1"/>
            </a:pPr>
            <a:r>
              <a:rPr lang="en-US" sz="2000" b="1" dirty="0">
                <a:solidFill>
                  <a:schemeClr val="tx2"/>
                </a:solidFill>
              </a:rPr>
              <a:t>Study</a:t>
            </a:r>
            <a:pPr algn="l" marL="342900" indent="-342900">
              <a:spcAft>
                <a:spcPts val="1200"/>
              </a:spcAft>
              <a:buSzPct val="100000"/>
              <a:buFont typeface="+mj-lt"/>
              <a:buAutoNum type="arabicPeriod" startAt="1"/>
            </a:pPr>
            <a:r>
              <a:rPr lang="en-US" sz="2000" dirty="0">
                <a:solidFill>
                  <a:schemeClr val="tx1"/>
                </a:solidFill>
              </a:rPr>
              <a:t> how reports are created manually today</a:t>
            </a:r>
            <a:endParaRPr lang="en-US" sz="2000" dirty="0"/>
          </a:p>
          <a:p>
            <a:pPr algn="l" marL="342900" indent="-342900">
              <a:spcAft>
                <a:spcPts val="1200"/>
              </a:spcAft>
              <a:buSzPct val="100000"/>
              <a:buFont typeface="+mj-lt"/>
              <a:buAutoNum type="arabicPeriod" startAt="1"/>
            </a:pPr>
            <a:r>
              <a:rPr lang="en-US" sz="2000" b="1" dirty="0">
                <a:solidFill>
                  <a:schemeClr val="tx2"/>
                </a:solidFill>
              </a:rPr>
              <a:t>Design</a:t>
            </a:r>
            <a:pPr algn="l" marL="342900" indent="-342900">
              <a:spcAft>
                <a:spcPts val="1200"/>
              </a:spcAft>
              <a:buSzPct val="100000"/>
              <a:buFont typeface="+mj-lt"/>
              <a:buAutoNum type="arabicPeriod" startAt="1"/>
            </a:pPr>
            <a:r>
              <a:rPr lang="en-US" sz="2000" dirty="0">
                <a:solidFill>
                  <a:schemeClr val="tx1"/>
                </a:solidFill>
              </a:rPr>
              <a:t> a system that reads data and cleans it automatically</a:t>
            </a:r>
            <a:endParaRPr lang="en-US" sz="2000" dirty="0"/>
          </a:p>
          <a:p>
            <a:pPr algn="l" marL="342900" indent="-342900">
              <a:spcAft>
                <a:spcPts val="1200"/>
              </a:spcAft>
              <a:buSzPct val="100000"/>
              <a:buFont typeface="+mj-lt"/>
              <a:buAutoNum type="arabicPeriod" startAt="1"/>
            </a:pPr>
            <a:r>
              <a:rPr lang="en-US" sz="2000" b="1" dirty="0">
                <a:solidFill>
                  <a:schemeClr val="tx2"/>
                </a:solidFill>
              </a:rPr>
              <a:t>Use Python and Pandas</a:t>
            </a:r>
            <a:pPr algn="l" marL="342900" indent="-342900">
              <a:spcAft>
                <a:spcPts val="1200"/>
              </a:spcAft>
              <a:buSzPct val="100000"/>
              <a:buFont typeface="+mj-lt"/>
              <a:buAutoNum type="arabicPeriod" startAt="1"/>
            </a:pPr>
            <a:r>
              <a:rPr lang="en-US" sz="2000" dirty="0">
                <a:solidFill>
                  <a:schemeClr val="tx1"/>
                </a:solidFill>
              </a:rPr>
              <a:t> to calculate key numbers like totals, averages and growth</a:t>
            </a:r>
            <a:endParaRPr lang="en-US" sz="2000" dirty="0"/>
          </a:p>
          <a:p>
            <a:pPr algn="l" marL="342900" indent="-342900">
              <a:spcAft>
                <a:spcPts val="1200"/>
              </a:spcAft>
              <a:buSzPct val="100000"/>
              <a:buFont typeface="+mj-lt"/>
              <a:buAutoNum type="arabicPeriod" startAt="1"/>
            </a:pPr>
            <a:r>
              <a:rPr lang="en-US" sz="2000" b="1" dirty="0">
                <a:solidFill>
                  <a:schemeClr val="tx2"/>
                </a:solidFill>
              </a:rPr>
              <a:t>Use an LLM</a:t>
            </a:r>
            <a:pPr algn="l" marL="342900" indent="-342900">
              <a:spcAft>
                <a:spcPts val="1200"/>
              </a:spcAft>
              <a:buSzPct val="100000"/>
              <a:buFont typeface="+mj-lt"/>
              <a:buAutoNum type="arabicPeriod" startAt="1"/>
            </a:pPr>
            <a:r>
              <a:rPr lang="en-US" sz="2000" dirty="0">
                <a:solidFill>
                  <a:schemeClr val="tx1"/>
                </a:solidFill>
              </a:rPr>
              <a:t> to write short, easy-to-read summaries</a:t>
            </a:r>
            <a:endParaRPr lang="en-US" sz="2000" dirty="0"/>
          </a:p>
          <a:p>
            <a:pPr algn="l" marL="342900" indent="-342900">
              <a:spcAft>
                <a:spcPts val="1200"/>
              </a:spcAft>
              <a:buSzPct val="100000"/>
              <a:buFont typeface="+mj-lt"/>
              <a:buAutoNum type="arabicPeriod" startAt="1"/>
            </a:pPr>
            <a:r>
              <a:rPr lang="en-US" sz="2000" b="1" dirty="0">
                <a:solidFill>
                  <a:schemeClr val="tx2"/>
                </a:solidFill>
              </a:rPr>
              <a:t>Show results</a:t>
            </a:r>
            <a:pPr algn="l" marL="342900" indent="-342900">
              <a:spcAft>
                <a:spcPts val="1200"/>
              </a:spcAft>
              <a:buSzPct val="100000"/>
              <a:buFont typeface="+mj-lt"/>
              <a:buAutoNum type="arabicPeriod" startAt="1"/>
            </a:pPr>
            <a:r>
              <a:rPr lang="en-US" sz="2000" dirty="0">
                <a:solidFill>
                  <a:schemeClr val="tx1"/>
                </a:solidFill>
              </a:rPr>
              <a:t> on a simple dashboard with tables and charts</a:t>
            </a:r>
            <a:endParaRPr lang="en-US" sz="2000" dirty="0"/>
          </a:p>
        </p:txBody>
      </p:sp>
      <p:sp>
        <p:nvSpPr>
          <p:cNvPr id="7" name="Outcomes Card"/>
          <p:cNvSpPr txBox="1"/>
          <p:nvPr/>
        </p:nvSpPr>
        <p:spPr>
          <a:xfrm>
            <a:off x="7589520" y="1508760"/>
            <a:ext cx="4114800" cy="4480560"/>
          </a:xfrm>
          <a:prstGeom prst="roundRect">
            <a:avLst>
              <a:gd name="adj" fmla="val 1778"/>
            </a:avLst>
          </a:prstGeom>
          <a:solidFill>
            <a:schemeClr val="bg2"/>
          </a:solidFill>
          <a:ln w="9525">
            <a:solidFill>
              <a:srgbClr val="C9D8EC"/>
            </a:solidFill>
          </a:ln>
        </p:spPr>
        <p:txBody>
          <a:bodyPr wrap="square" lIns="203200" tIns="203200" rIns="203200" bIns="203200" rtlCol="0" anchor="t"/>
          <a:lstStyle/>
          <a:p>
            <a:pPr indent="0" marL="0">
              <a:spcAft>
                <a:spcPts val="1200"/>
              </a:spcAft>
              <a:buNone/>
            </a:pPr>
            <a:r>
              <a:rPr lang="en-US" sz="2200" b="1" dirty="0">
                <a:solidFill>
                  <a:schemeClr val="tx2"/>
                </a:solidFill>
              </a:rPr>
              <a:t>Expected Outcomes</a:t>
            </a:r>
            <a:endParaRPr lang="en-US" sz="2200" dirty="0"/>
          </a:p>
          <a:p>
            <a:pPr algn="l" marL="203200" indent="-203200">
              <a:spcAft>
                <a:spcPts val="1200"/>
              </a:spcAft>
              <a:buSzPct val="100000"/>
              <a:buChar char="•"/>
            </a:pPr>
            <a:r>
              <a:rPr lang="en-US" sz="1900" b="1" dirty="0">
                <a:solidFill>
                  <a:schemeClr val="tx2"/>
                </a:solidFill>
              </a:rPr>
              <a:t>Faster:</a:t>
            </a:r>
            <a:pPr algn="l" marL="203200" indent="-203200">
              <a:spcAft>
                <a:spcPts val="1200"/>
              </a:spcAft>
              <a:buSzPct val="100000"/>
              <a:buChar char="•"/>
            </a:pPr>
            <a:r>
              <a:rPr lang="en-US" sz="1900" dirty="0">
                <a:solidFill>
                  <a:schemeClr val="tx1"/>
                </a:solidFill>
              </a:rPr>
              <a:t> report ready in minutes, not hours</a:t>
            </a:r>
            <a:endParaRPr lang="en-US" sz="2200" dirty="0"/>
          </a:p>
          <a:p>
            <a:pPr algn="l" marL="203200" indent="-203200">
              <a:spcAft>
                <a:spcPts val="1200"/>
              </a:spcAft>
              <a:buSzPct val="100000"/>
              <a:buChar char="•"/>
            </a:pPr>
            <a:r>
              <a:rPr lang="en-US" sz="1900" b="1" dirty="0">
                <a:solidFill>
                  <a:schemeClr val="tx2"/>
                </a:solidFill>
              </a:rPr>
              <a:t>Accurate:</a:t>
            </a:r>
            <a:pPr algn="l" marL="203200" indent="-203200">
              <a:spcAft>
                <a:spcPts val="1200"/>
              </a:spcAft>
              <a:buSzPct val="100000"/>
              <a:buChar char="•"/>
            </a:pPr>
            <a:r>
              <a:rPr lang="en-US" sz="1900" dirty="0">
                <a:solidFill>
                  <a:schemeClr val="tx1"/>
                </a:solidFill>
              </a:rPr>
              <a:t> fewer calculation mistakes</a:t>
            </a:r>
            <a:endParaRPr lang="en-US" sz="2200" dirty="0"/>
          </a:p>
          <a:p>
            <a:pPr algn="l" marL="203200" indent="-203200">
              <a:spcAft>
                <a:spcPts val="1200"/>
              </a:spcAft>
              <a:buSzPct val="100000"/>
              <a:buChar char="•"/>
            </a:pPr>
            <a:r>
              <a:rPr lang="en-US" sz="1900" b="1" dirty="0">
                <a:solidFill>
                  <a:schemeClr val="tx2"/>
                </a:solidFill>
              </a:rPr>
              <a:t>Consistent:</a:t>
            </a:r>
            <a:pPr algn="l" marL="203200" indent="-203200">
              <a:spcAft>
                <a:spcPts val="1200"/>
              </a:spcAft>
              <a:buSzPct val="100000"/>
              <a:buChar char="•"/>
            </a:pPr>
            <a:r>
              <a:rPr lang="en-US" sz="1900" dirty="0">
                <a:solidFill>
                  <a:schemeClr val="tx1"/>
                </a:solidFill>
              </a:rPr>
              <a:t> same format every time</a:t>
            </a:r>
            <a:endParaRPr lang="en-US" sz="2200" dirty="0"/>
          </a:p>
          <a:p>
            <a:pPr algn="l" marL="203200" indent="-203200">
              <a:spcAft>
                <a:spcPts val="1200"/>
              </a:spcAft>
              <a:buSzPct val="100000"/>
              <a:buChar char="•"/>
            </a:pPr>
            <a:r>
              <a:rPr lang="en-US" sz="1900" b="1" dirty="0">
                <a:solidFill>
                  <a:schemeClr val="tx2"/>
                </a:solidFill>
              </a:rPr>
              <a:t>Easy:</a:t>
            </a:r>
            <a:pPr algn="l" marL="203200" indent="-203200">
              <a:spcAft>
                <a:spcPts val="1200"/>
              </a:spcAft>
              <a:buSzPct val="100000"/>
              <a:buChar char="•"/>
            </a:pPr>
            <a:r>
              <a:rPr lang="en-US" sz="1900" dirty="0">
                <a:solidFill>
                  <a:schemeClr val="tx1"/>
                </a:solidFill>
              </a:rPr>
              <a:t> usable by non-technical people</a:t>
            </a:r>
            <a:endParaRPr lang="en-US" sz="22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Existing System</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How reports are made today (manual method)</a:t>
            </a:r>
            <a:endParaRPr lang="en-US" sz="1800" dirty="0"/>
          </a:p>
        </p:txBody>
      </p:sp>
      <p:sp>
        <p:nvSpPr>
          <p:cNvPr id="5" name="1. Collect Data"/>
          <p:cNvSpPr txBox="1"/>
          <p:nvPr/>
        </p:nvSpPr>
        <p:spPr>
          <a:xfrm>
            <a:off x="457200" y="1508760"/>
            <a:ext cx="1920240" cy="1371600"/>
          </a:xfrm>
          <a:prstGeom prst="roundRect">
            <a:avLst>
              <a:gd name="adj" fmla="val 5333"/>
            </a:avLst>
          </a:prstGeom>
          <a:solidFill>
            <a:schemeClr val="bg2"/>
          </a:solidFill>
          <a:ln w="12700">
            <a:solidFill>
              <a:srgbClr val="C9D8EC"/>
            </a:solidFill>
          </a:ln>
        </p:spPr>
        <p:txBody>
          <a:bodyPr wrap="square" lIns="76200" tIns="76200" rIns="76200" bIns="76200" rtlCol="0" anchor="ctr"/>
          <a:lstStyle/>
          <a:p>
            <a:pPr algn="ctr" indent="0" marL="0">
              <a:buNone/>
            </a:pPr>
            <a:r>
              <a:rPr lang="en-US" sz="1700" b="1" dirty="0">
                <a:solidFill>
                  <a:schemeClr val="tx2"/>
                </a:solidFill>
              </a:rPr>
              <a:t>1. Collect Data</a:t>
            </a:r>
            <a:endParaRPr lang="en-US" sz="1700" dirty="0"/>
          </a:p>
          <a:p>
            <a:pPr algn="ctr" indent="0" marL="0">
              <a:buNone/>
            </a:pPr>
            <a:r>
              <a:rPr lang="en-US" sz="1400" dirty="0">
                <a:solidFill>
                  <a:schemeClr val="tx1"/>
                </a:solidFill>
              </a:rPr>
              <a:t>From Excel files, forms or databases</a:t>
            </a:r>
            <a:endParaRPr lang="en-US" sz="1700" dirty="0"/>
          </a:p>
        </p:txBody>
      </p:sp>
      <p:sp>
        <p:nvSpPr>
          <p:cNvPr id="6" name="Shape 3"/>
          <p:cNvSpPr/>
          <p:nvPr/>
        </p:nvSpPr>
        <p:spPr>
          <a:xfrm>
            <a:off x="2377440" y="2194560"/>
            <a:ext cx="411480" cy="0"/>
          </a:xfrm>
          <a:prstGeom prst="line">
            <a:avLst/>
          </a:prstGeom>
          <a:noFill/>
          <a:ln w="25400">
            <a:solidFill>
              <a:schemeClr val="accent4"/>
            </a:solidFill>
            <a:prstDash val="solid"/>
            <a:tailEnd type="triangle"/>
          </a:ln>
        </p:spPr>
      </p:sp>
      <p:sp>
        <p:nvSpPr>
          <p:cNvPr id="7" name="2. Clean Data"/>
          <p:cNvSpPr txBox="1"/>
          <p:nvPr/>
        </p:nvSpPr>
        <p:spPr>
          <a:xfrm>
            <a:off x="2788920" y="1508760"/>
            <a:ext cx="1920240" cy="1371600"/>
          </a:xfrm>
          <a:prstGeom prst="roundRect">
            <a:avLst>
              <a:gd name="adj" fmla="val 5333"/>
            </a:avLst>
          </a:prstGeom>
          <a:solidFill>
            <a:schemeClr val="bg2"/>
          </a:solidFill>
          <a:ln w="12700">
            <a:solidFill>
              <a:srgbClr val="C9D8EC"/>
            </a:solidFill>
          </a:ln>
        </p:spPr>
        <p:txBody>
          <a:bodyPr wrap="square" lIns="76200" tIns="76200" rIns="76200" bIns="76200" rtlCol="0" anchor="ctr"/>
          <a:lstStyle/>
          <a:p>
            <a:pPr algn="ctr" indent="0" marL="0">
              <a:buNone/>
            </a:pPr>
            <a:r>
              <a:rPr lang="en-US" sz="1700" b="1" dirty="0">
                <a:solidFill>
                  <a:schemeClr val="tx2"/>
                </a:solidFill>
              </a:rPr>
              <a:t>2. Clean Data</a:t>
            </a:r>
            <a:endParaRPr lang="en-US" sz="1700" dirty="0"/>
          </a:p>
          <a:p>
            <a:pPr algn="ctr" indent="0" marL="0">
              <a:buNone/>
            </a:pPr>
            <a:r>
              <a:rPr lang="en-US" sz="1400" dirty="0">
                <a:solidFill>
                  <a:schemeClr val="tx1"/>
                </a:solidFill>
              </a:rPr>
              <a:t>Fix mistakes and missing values by hand</a:t>
            </a:r>
            <a:endParaRPr lang="en-US" sz="1700" dirty="0"/>
          </a:p>
        </p:txBody>
      </p:sp>
      <p:sp>
        <p:nvSpPr>
          <p:cNvPr id="8" name="Shape 5"/>
          <p:cNvSpPr/>
          <p:nvPr/>
        </p:nvSpPr>
        <p:spPr>
          <a:xfrm>
            <a:off x="4709160" y="2194560"/>
            <a:ext cx="411480" cy="0"/>
          </a:xfrm>
          <a:prstGeom prst="line">
            <a:avLst/>
          </a:prstGeom>
          <a:noFill/>
          <a:ln w="25400">
            <a:solidFill>
              <a:schemeClr val="accent4"/>
            </a:solidFill>
            <a:prstDash val="solid"/>
            <a:tailEnd type="triangle"/>
          </a:ln>
        </p:spPr>
      </p:sp>
      <p:sp>
        <p:nvSpPr>
          <p:cNvPr id="9" name="3. Calculate"/>
          <p:cNvSpPr txBox="1"/>
          <p:nvPr/>
        </p:nvSpPr>
        <p:spPr>
          <a:xfrm>
            <a:off x="5120640" y="1508760"/>
            <a:ext cx="1920240" cy="1371600"/>
          </a:xfrm>
          <a:prstGeom prst="roundRect">
            <a:avLst>
              <a:gd name="adj" fmla="val 5333"/>
            </a:avLst>
          </a:prstGeom>
          <a:solidFill>
            <a:schemeClr val="bg2"/>
          </a:solidFill>
          <a:ln w="12700">
            <a:solidFill>
              <a:srgbClr val="C9D8EC"/>
            </a:solidFill>
          </a:ln>
        </p:spPr>
        <p:txBody>
          <a:bodyPr wrap="square" lIns="76200" tIns="76200" rIns="76200" bIns="76200" rtlCol="0" anchor="ctr"/>
          <a:lstStyle/>
          <a:p>
            <a:pPr algn="ctr" indent="0" marL="0">
              <a:buNone/>
            </a:pPr>
            <a:r>
              <a:rPr lang="en-US" sz="1700" b="1" dirty="0">
                <a:solidFill>
                  <a:schemeClr val="tx2"/>
                </a:solidFill>
              </a:rPr>
              <a:t>3. Calculate</a:t>
            </a:r>
            <a:endParaRPr lang="en-US" sz="1700" dirty="0"/>
          </a:p>
          <a:p>
            <a:pPr algn="ctr" indent="0" marL="0">
              <a:buNone/>
            </a:pPr>
            <a:r>
              <a:rPr lang="en-US" sz="1400" dirty="0">
                <a:solidFill>
                  <a:schemeClr val="tx1"/>
                </a:solidFill>
              </a:rPr>
              <a:t>Formulas and pivot tables in Excel</a:t>
            </a:r>
            <a:endParaRPr lang="en-US" sz="1700" dirty="0"/>
          </a:p>
        </p:txBody>
      </p:sp>
      <p:sp>
        <p:nvSpPr>
          <p:cNvPr id="10" name="Shape 7"/>
          <p:cNvSpPr/>
          <p:nvPr/>
        </p:nvSpPr>
        <p:spPr>
          <a:xfrm>
            <a:off x="7040880" y="2194560"/>
            <a:ext cx="411480" cy="0"/>
          </a:xfrm>
          <a:prstGeom prst="line">
            <a:avLst/>
          </a:prstGeom>
          <a:noFill/>
          <a:ln w="25400">
            <a:solidFill>
              <a:schemeClr val="accent4"/>
            </a:solidFill>
            <a:prstDash val="solid"/>
            <a:tailEnd type="triangle"/>
          </a:ln>
        </p:spPr>
      </p:sp>
      <p:sp>
        <p:nvSpPr>
          <p:cNvPr id="11" name="4. Make Charts"/>
          <p:cNvSpPr txBox="1"/>
          <p:nvPr/>
        </p:nvSpPr>
        <p:spPr>
          <a:xfrm>
            <a:off x="7452360" y="1508760"/>
            <a:ext cx="1920240" cy="1371600"/>
          </a:xfrm>
          <a:prstGeom prst="roundRect">
            <a:avLst>
              <a:gd name="adj" fmla="val 5333"/>
            </a:avLst>
          </a:prstGeom>
          <a:solidFill>
            <a:schemeClr val="bg2"/>
          </a:solidFill>
          <a:ln w="12700">
            <a:solidFill>
              <a:srgbClr val="C9D8EC"/>
            </a:solidFill>
          </a:ln>
        </p:spPr>
        <p:txBody>
          <a:bodyPr wrap="square" lIns="76200" tIns="76200" rIns="76200" bIns="76200" rtlCol="0" anchor="ctr"/>
          <a:lstStyle/>
          <a:p>
            <a:pPr algn="ctr" indent="0" marL="0">
              <a:buNone/>
            </a:pPr>
            <a:r>
              <a:rPr lang="en-US" sz="1700" b="1" dirty="0">
                <a:solidFill>
                  <a:schemeClr val="tx2"/>
                </a:solidFill>
              </a:rPr>
              <a:t>4. Make Charts</a:t>
            </a:r>
            <a:endParaRPr lang="en-US" sz="1700" dirty="0"/>
          </a:p>
          <a:p>
            <a:pPr algn="ctr" indent="0" marL="0">
              <a:buNone/>
            </a:pPr>
            <a:r>
              <a:rPr lang="en-US" sz="1400" dirty="0">
                <a:solidFill>
                  <a:schemeClr val="tx1"/>
                </a:solidFill>
              </a:rPr>
              <a:t>Charts pasted into Word or PowerPoint</a:t>
            </a:r>
            <a:endParaRPr lang="en-US" sz="1700" dirty="0"/>
          </a:p>
        </p:txBody>
      </p:sp>
      <p:sp>
        <p:nvSpPr>
          <p:cNvPr id="12" name="Shape 9"/>
          <p:cNvSpPr/>
          <p:nvPr/>
        </p:nvSpPr>
        <p:spPr>
          <a:xfrm>
            <a:off x="9372600" y="2194560"/>
            <a:ext cx="411480" cy="0"/>
          </a:xfrm>
          <a:prstGeom prst="line">
            <a:avLst/>
          </a:prstGeom>
          <a:noFill/>
          <a:ln w="25400">
            <a:solidFill>
              <a:schemeClr val="accent4"/>
            </a:solidFill>
            <a:prstDash val="solid"/>
            <a:tailEnd type="triangle"/>
          </a:ln>
        </p:spPr>
      </p:sp>
      <p:sp>
        <p:nvSpPr>
          <p:cNvPr id="13" name="5. Write &amp; Send"/>
          <p:cNvSpPr txBox="1"/>
          <p:nvPr/>
        </p:nvSpPr>
        <p:spPr>
          <a:xfrm>
            <a:off x="9784080" y="1508760"/>
            <a:ext cx="1920240" cy="1371600"/>
          </a:xfrm>
          <a:prstGeom prst="roundRect">
            <a:avLst>
              <a:gd name="adj" fmla="val 5333"/>
            </a:avLst>
          </a:prstGeom>
          <a:solidFill>
            <a:schemeClr val="bg2"/>
          </a:solidFill>
          <a:ln w="12700">
            <a:solidFill>
              <a:srgbClr val="C9D8EC"/>
            </a:solidFill>
          </a:ln>
        </p:spPr>
        <p:txBody>
          <a:bodyPr wrap="square" lIns="76200" tIns="76200" rIns="76200" bIns="76200" rtlCol="0" anchor="ctr"/>
          <a:lstStyle/>
          <a:p>
            <a:pPr algn="ctr" indent="0" marL="0">
              <a:buNone/>
            </a:pPr>
            <a:r>
              <a:rPr lang="en-US" sz="1700" b="1" dirty="0">
                <a:solidFill>
                  <a:schemeClr val="tx2"/>
                </a:solidFill>
              </a:rPr>
              <a:t>5. Write &amp; Send</a:t>
            </a:r>
            <a:endParaRPr lang="en-US" sz="1700" dirty="0"/>
          </a:p>
          <a:p>
            <a:pPr algn="ctr" indent="0" marL="0">
              <a:buNone/>
            </a:pPr>
            <a:r>
              <a:rPr lang="en-US" sz="1400" dirty="0">
                <a:solidFill>
                  <a:schemeClr val="tx1"/>
                </a:solidFill>
              </a:rPr>
              <a:t>Summary typed manually and emailed</a:t>
            </a:r>
            <a:endParaRPr lang="en-US" sz="1700" dirty="0"/>
          </a:p>
        </p:txBody>
      </p:sp>
      <p:sp>
        <p:nvSpPr>
          <p:cNvPr id="14" name="Text 11"/>
          <p:cNvSpPr txBox="1"/>
          <p:nvPr/>
        </p:nvSpPr>
        <p:spPr>
          <a:xfrm>
            <a:off x="457200" y="3246120"/>
            <a:ext cx="6583680" cy="2926080"/>
          </a:xfrm>
          <a:prstGeom prst="rect">
            <a:avLst/>
          </a:prstGeom>
          <a:noFill/>
          <a:ln/>
        </p:spPr>
        <p:txBody>
          <a:bodyPr wrap="square" lIns="0" tIns="0" rIns="0" bIns="0" rtlCol="0" anchor="t"/>
          <a:lstStyle/>
          <a:p>
            <a:pPr indent="0" marL="0">
              <a:spcAft>
                <a:spcPts val="800"/>
              </a:spcAft>
              <a:buNone/>
            </a:pPr>
            <a:r>
              <a:rPr lang="en-US" sz="2000" b="1" dirty="0">
                <a:solidFill>
                  <a:schemeClr val="tx2"/>
                </a:solidFill>
              </a:rPr>
              <a:t>Key points</a:t>
            </a:r>
            <a:endParaRPr lang="en-US" sz="2000" dirty="0"/>
          </a:p>
          <a:p>
            <a:pPr algn="l" marL="203200" indent="-203200">
              <a:spcAft>
                <a:spcPts val="800"/>
              </a:spcAft>
              <a:buSzPct val="100000"/>
              <a:buChar char="•"/>
            </a:pPr>
            <a:r>
              <a:rPr lang="en-US" sz="1900" b="1" dirty="0">
                <a:solidFill>
                  <a:schemeClr val="tx2"/>
                </a:solidFill>
              </a:rPr>
              <a:t>Mostly done by one person</a:t>
            </a:r>
            <a:pPr algn="l" marL="203200" indent="-203200">
              <a:spcAft>
                <a:spcPts val="800"/>
              </a:spcAft>
              <a:buSzPct val="100000"/>
              <a:buChar char="•"/>
            </a:pPr>
            <a:r>
              <a:rPr lang="en-US" sz="1900" dirty="0">
                <a:solidFill>
                  <a:schemeClr val="tx1"/>
                </a:solidFill>
              </a:rPr>
              <a:t> using Excel and Word/PowerPoint</a:t>
            </a:r>
            <a:endParaRPr lang="en-US" sz="2000" dirty="0"/>
          </a:p>
          <a:p>
            <a:pPr algn="l" marL="203200" indent="-203200">
              <a:spcAft>
                <a:spcPts val="800"/>
              </a:spcAft>
              <a:buSzPct val="100000"/>
              <a:buChar char="•"/>
            </a:pPr>
            <a:r>
              <a:rPr lang="en-US" sz="1900" b="1" dirty="0">
                <a:solidFill>
                  <a:schemeClr val="tx2"/>
                </a:solidFill>
              </a:rPr>
              <a:t>Every step is manual,</a:t>
            </a:r>
            <a:pPr algn="l" marL="203200" indent="-203200">
              <a:spcAft>
                <a:spcPts val="800"/>
              </a:spcAft>
              <a:buSzPct val="100000"/>
              <a:buChar char="•"/>
            </a:pPr>
            <a:r>
              <a:rPr lang="en-US" sz="1900" dirty="0">
                <a:solidFill>
                  <a:schemeClr val="tx1"/>
                </a:solidFill>
              </a:rPr>
              <a:t> so work is repeated each week or month</a:t>
            </a:r>
            <a:endParaRPr lang="en-US" sz="2000" dirty="0"/>
          </a:p>
          <a:p>
            <a:pPr algn="l" marL="203200" indent="-203200">
              <a:spcAft>
                <a:spcPts val="800"/>
              </a:spcAft>
              <a:buSzPct val="100000"/>
              <a:buChar char="•"/>
            </a:pPr>
            <a:r>
              <a:rPr lang="en-US" sz="1900" b="1" dirty="0">
                <a:solidFill>
                  <a:schemeClr val="tx2"/>
                </a:solidFill>
              </a:rPr>
              <a:t>Data from different files</a:t>
            </a:r>
            <a:pPr algn="l" marL="203200" indent="-203200">
              <a:spcAft>
                <a:spcPts val="800"/>
              </a:spcAft>
              <a:buSzPct val="100000"/>
              <a:buChar char="•"/>
            </a:pPr>
            <a:r>
              <a:rPr lang="en-US" sz="1900" dirty="0">
                <a:solidFill>
                  <a:schemeClr val="tx1"/>
                </a:solidFill>
              </a:rPr>
              <a:t> must be combined by hand</a:t>
            </a:r>
            <a:endParaRPr lang="en-US" sz="2000" dirty="0"/>
          </a:p>
          <a:p>
            <a:pPr algn="l" marL="203200" indent="-203200">
              <a:spcAft>
                <a:spcPts val="800"/>
              </a:spcAft>
              <a:buSzPct val="100000"/>
              <a:buChar char="•"/>
            </a:pPr>
            <a:r>
              <a:rPr lang="en-US" sz="1900" b="1" dirty="0">
                <a:solidFill>
                  <a:schemeClr val="tx2"/>
                </a:solidFill>
              </a:rPr>
              <a:t>Quality of the summary</a:t>
            </a:r>
            <a:pPr algn="l" marL="203200" indent="-203200">
              <a:spcAft>
                <a:spcPts val="800"/>
              </a:spcAft>
              <a:buSzPct val="100000"/>
              <a:buChar char="•"/>
            </a:pPr>
            <a:r>
              <a:rPr lang="en-US" sz="1900" dirty="0">
                <a:solidFill>
                  <a:schemeClr val="tx1"/>
                </a:solidFill>
              </a:rPr>
              <a:t> depends on the person’s time and skill</a:t>
            </a:r>
            <a:endParaRPr lang="en-US" sz="2000" dirty="0"/>
          </a:p>
        </p:txBody>
      </p:sp>
      <p:sp>
        <p:nvSpPr>
          <p:cNvPr id="15" name="Example Card"/>
          <p:cNvSpPr txBox="1"/>
          <p:nvPr/>
        </p:nvSpPr>
        <p:spPr>
          <a:xfrm>
            <a:off x="7406640" y="3291840"/>
            <a:ext cx="4297680" cy="2651760"/>
          </a:xfrm>
          <a:prstGeom prst="roundRect">
            <a:avLst>
              <a:gd name="adj" fmla="val 2759"/>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Example</a:t>
            </a:r>
            <a:endParaRPr lang="en-US" sz="2100" dirty="0"/>
          </a:p>
          <a:p>
            <a:pPr indent="0" marL="0">
              <a:buNone/>
            </a:pPr>
            <a:r>
              <a:rPr lang="en-US" sz="1800" dirty="0">
                <a:solidFill>
                  <a:schemeClr val="tx1"/>
                </a:solidFill>
              </a:rPr>
              <a:t>In a college office, teachers send attendance sheets in Excel. A clerk merges them, makes charts and types a summary for the principal – every month.</a:t>
            </a:r>
            <a:endParaRPr lang="en-US" sz="21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Proposed System</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How AI can make reporting faster and easier</a:t>
            </a:r>
            <a:endParaRPr lang="en-US" sz="1800" dirty="0"/>
          </a:p>
        </p:txBody>
      </p:sp>
      <p:sp>
        <p:nvSpPr>
          <p:cNvPr id="5" name="Text 2"/>
          <p:cNvSpPr txBox="1"/>
          <p:nvPr/>
        </p:nvSpPr>
        <p:spPr>
          <a:xfrm>
            <a:off x="457200" y="1508760"/>
            <a:ext cx="4572000" cy="3017520"/>
          </a:xfrm>
          <a:prstGeom prst="rect">
            <a:avLst/>
          </a:prstGeom>
          <a:noFill/>
          <a:ln/>
        </p:spPr>
        <p:txBody>
          <a:bodyPr wrap="square" lIns="0" tIns="0" rIns="0" bIns="0" rtlCol="0" anchor="t"/>
          <a:lstStyle/>
          <a:p>
            <a:pPr algn="l" marL="203200" indent="-203200">
              <a:spcAft>
                <a:spcPts val="1000"/>
              </a:spcAft>
              <a:buSzPct val="100000"/>
              <a:buChar char="•"/>
            </a:pPr>
            <a:r>
              <a:rPr lang="en-US" sz="1900" b="1" dirty="0">
                <a:solidFill>
                  <a:schemeClr val="tx2"/>
                </a:solidFill>
              </a:rPr>
              <a:t>User uploads</a:t>
            </a:r>
            <a:pPr algn="l" marL="203200" indent="-203200">
              <a:spcAft>
                <a:spcPts val="1000"/>
              </a:spcAft>
              <a:buSzPct val="100000"/>
              <a:buChar char="•"/>
            </a:pPr>
            <a:r>
              <a:rPr lang="en-US" sz="1900" dirty="0">
                <a:solidFill>
                  <a:schemeClr val="tx1"/>
                </a:solidFill>
              </a:rPr>
              <a:t> a file or connects a database</a:t>
            </a:r>
            <a:endParaRPr lang="en-US" sz="1900" dirty="0"/>
          </a:p>
          <a:p>
            <a:pPr algn="l" marL="203200" indent="-203200">
              <a:spcAft>
                <a:spcPts val="1000"/>
              </a:spcAft>
              <a:buSzPct val="100000"/>
              <a:buChar char="•"/>
            </a:pPr>
            <a:r>
              <a:rPr lang="en-US" sz="1900" b="1" dirty="0">
                <a:solidFill>
                  <a:schemeClr val="tx2"/>
                </a:solidFill>
              </a:rPr>
              <a:t>Python + Pandas</a:t>
            </a:r>
            <a:pPr algn="l" marL="203200" indent="-203200">
              <a:spcAft>
                <a:spcPts val="1000"/>
              </a:spcAft>
              <a:buSzPct val="100000"/>
              <a:buChar char="•"/>
            </a:pPr>
            <a:r>
              <a:rPr lang="en-US" sz="1900" dirty="0">
                <a:solidFill>
                  <a:schemeClr val="tx1"/>
                </a:solidFill>
              </a:rPr>
              <a:t> clean the data and calculate key numbers</a:t>
            </a:r>
            <a:endParaRPr lang="en-US" sz="1900" dirty="0"/>
          </a:p>
          <a:p>
            <a:pPr algn="l" marL="203200" indent="-203200">
              <a:spcAft>
                <a:spcPts val="1000"/>
              </a:spcAft>
              <a:buSzPct val="100000"/>
              <a:buChar char="•"/>
            </a:pPr>
            <a:r>
              <a:rPr lang="en-US" sz="1900" b="1" dirty="0">
                <a:solidFill>
                  <a:schemeClr val="tx2"/>
                </a:solidFill>
              </a:rPr>
              <a:t>An LLM API</a:t>
            </a:r>
            <a:pPr algn="l" marL="203200" indent="-203200">
              <a:spcAft>
                <a:spcPts val="1000"/>
              </a:spcAft>
              <a:buSzPct val="100000"/>
              <a:buChar char="•"/>
            </a:pPr>
            <a:r>
              <a:rPr lang="en-US" sz="1900" dirty="0">
                <a:solidFill>
                  <a:schemeClr val="tx1"/>
                </a:solidFill>
              </a:rPr>
              <a:t> writes a short summary in simple English</a:t>
            </a:r>
            <a:endParaRPr lang="en-US" sz="1900" dirty="0"/>
          </a:p>
          <a:p>
            <a:pPr algn="l" marL="203200" indent="-203200">
              <a:spcAft>
                <a:spcPts val="1000"/>
              </a:spcAft>
              <a:buSzPct val="100000"/>
              <a:buChar char="•"/>
            </a:pPr>
            <a:r>
              <a:rPr lang="en-US" sz="1900" b="1" dirty="0">
                <a:solidFill>
                  <a:schemeClr val="tx2"/>
                </a:solidFill>
              </a:rPr>
              <a:t>Streamlit dashboard</a:t>
            </a:r>
            <a:pPr algn="l" marL="203200" indent="-203200">
              <a:spcAft>
                <a:spcPts val="1000"/>
              </a:spcAft>
              <a:buSzPct val="100000"/>
              <a:buChar char="•"/>
            </a:pPr>
            <a:r>
              <a:rPr lang="en-US" sz="1900" dirty="0">
                <a:solidFill>
                  <a:schemeClr val="tx1"/>
                </a:solidFill>
              </a:rPr>
              <a:t> shows charts and lets the user download the report</a:t>
            </a:r>
            <a:endParaRPr lang="en-US" sz="1900" dirty="0"/>
          </a:p>
        </p:txBody>
      </p:sp>
      <p:sp>
        <p:nvSpPr>
          <p:cNvPr id="6" name="Main Idea"/>
          <p:cNvSpPr txBox="1"/>
          <p:nvPr/>
        </p:nvSpPr>
        <p:spPr>
          <a:xfrm>
            <a:off x="457200" y="4663440"/>
            <a:ext cx="4572000" cy="1280160"/>
          </a:xfrm>
          <a:prstGeom prst="roundRect">
            <a:avLst>
              <a:gd name="adj" fmla="val 5714"/>
            </a:avLst>
          </a:prstGeom>
          <a:solidFill>
            <a:schemeClr val="bg2"/>
          </a:solidFill>
          <a:ln w="9525">
            <a:solidFill>
              <a:srgbClr val="C9D8EC"/>
            </a:solidFill>
          </a:ln>
        </p:spPr>
        <p:txBody>
          <a:bodyPr wrap="square" lIns="177800" tIns="177800" rIns="177800" bIns="177800" rtlCol="0" anchor="ctr"/>
          <a:lstStyle/>
          <a:p>
            <a:pPr indent="0" marL="0">
              <a:spcAft>
                <a:spcPts val="400"/>
              </a:spcAft>
              <a:buNone/>
            </a:pPr>
            <a:r>
              <a:rPr lang="en-US" sz="1600" b="1" dirty="0">
                <a:solidFill>
                  <a:schemeClr val="tx2"/>
                </a:solidFill>
              </a:rPr>
              <a:t>Main idea</a:t>
            </a:r>
            <a:endParaRPr lang="en-US" sz="1600" dirty="0"/>
          </a:p>
          <a:p>
            <a:pPr indent="0" marL="0">
              <a:buNone/>
            </a:pPr>
            <a:r>
              <a:rPr lang="en-US" sz="1500" dirty="0">
                <a:solidFill>
                  <a:schemeClr val="tx1"/>
                </a:solidFill>
              </a:rPr>
              <a:t>Automate the repeated steps and keep the human for checking the final report.</a:t>
            </a:r>
            <a:endParaRPr lang="en-US" sz="1600" dirty="0"/>
          </a:p>
        </p:txBody>
      </p:sp>
      <p:graphicFrame>
        <p:nvGraphicFramePr>
          <p:cNvPr id="7" name="Comparison Table"/>
          <p:cNvGraphicFramePr>
            <a:graphicFrameLocks noGrp="1"/>
          </p:cNvGraphicFramePr>
          <p:nvPr>
            <p:extLst>
              <p:ext uri="{D42A27DB-BD31-4B8C-83A1-F6EECF244321}">
                <p14:modId xmlns:p14="http://schemas.microsoft.com/office/powerpoint/2010/main" val="1579011935"/>
              </p:ext>
            </p:extLst>
          </p:nvPr>
        </p:nvGraphicFramePr>
        <p:xfrm>
          <a:off x="5349240" y="1508760"/>
          <a:ext cx="6355080" cy="914400"/>
        </p:xfrm>
        <a:graphic>
          <a:graphicData uri="http://schemas.openxmlformats.org/drawingml/2006/table">
            <a:tbl>
              <a:tblPr/>
              <a:tblGrid>
                <a:gridCol w="1417320"/>
                <a:gridCol w="2468880"/>
                <a:gridCol w="2468880"/>
              </a:tblGrid>
              <a:tr h="502920">
                <a:tc>
                  <a:txBody>
                    <a:bodyPr/>
                    <a:lstStyle/>
                    <a:p>
                      <a:pPr indent="0" marL="0">
                        <a:buNone/>
                      </a:pPr>
                      <a:r>
                        <a:rPr lang="en-US" sz="1600" b="1" dirty="0">
                          <a:solidFill>
                            <a:srgbClr val="FFFFFF"/>
                          </a:solidFill>
                        </a:rPr>
                        <a:t>Point</a:t>
                      </a:r>
                      <a:endParaRPr lang="en-US" sz="16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14325C"/>
                    </a:solidFill>
                  </a:tcPr>
                </a:tc>
                <a:tc>
                  <a:txBody>
                    <a:bodyPr/>
                    <a:lstStyle/>
                    <a:p>
                      <a:pPr indent="0" marL="0">
                        <a:buNone/>
                      </a:pPr>
                      <a:r>
                        <a:rPr lang="en-US" sz="1600" b="1" dirty="0">
                          <a:solidFill>
                            <a:srgbClr val="FFFFFF"/>
                          </a:solidFill>
                        </a:rPr>
                        <a:t>Existing (Manual)</a:t>
                      </a:r>
                      <a:endParaRPr lang="en-US" sz="16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14325C"/>
                    </a:solidFill>
                  </a:tcPr>
                </a:tc>
                <a:tc>
                  <a:txBody>
                    <a:bodyPr/>
                    <a:lstStyle/>
                    <a:p>
                      <a:pPr indent="0" marL="0">
                        <a:buNone/>
                      </a:pPr>
                      <a:r>
                        <a:rPr lang="en-US" sz="1600" b="1" dirty="0">
                          <a:solidFill>
                            <a:srgbClr val="FFFFFF"/>
                          </a:solidFill>
                        </a:rPr>
                        <a:t>Proposed (AI-based)</a:t>
                      </a:r>
                      <a:endParaRPr lang="en-US" sz="16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14325C"/>
                    </a:solidFill>
                  </a:tcPr>
                </a:tc>
              </a:tr>
              <a:tr h="713232">
                <a:tc>
                  <a:txBody>
                    <a:bodyPr/>
                    <a:lstStyle/>
                    <a:p>
                      <a:pPr indent="0" marL="0">
                        <a:buNone/>
                      </a:pPr>
                      <a:r>
                        <a:rPr lang="en-US" sz="1600" b="1" dirty="0">
                          <a:solidFill>
                            <a:srgbClr val="1F2933"/>
                          </a:solidFill>
                        </a:rPr>
                        <a:t>Time taken</a:t>
                      </a:r>
                      <a:endParaRPr lang="en-US" sz="16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Hours of manual steps</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Minutes, mostly automatic</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713232">
                <a:tc>
                  <a:txBody>
                    <a:bodyPr/>
                    <a:lstStyle/>
                    <a:p>
                      <a:pPr indent="0" marL="0">
                        <a:buNone/>
                      </a:pPr>
                      <a:r>
                        <a:rPr lang="en-US" sz="1600" b="1" dirty="0">
                          <a:solidFill>
                            <a:srgbClr val="1F2933"/>
                          </a:solidFill>
                        </a:rPr>
                        <a:t>Accuracy</a:t>
                      </a:r>
                      <a:endParaRPr lang="en-US" sz="16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Prone to typing and formula errors</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Same code logic every time</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713232">
                <a:tc>
                  <a:txBody>
                    <a:bodyPr/>
                    <a:lstStyle/>
                    <a:p>
                      <a:pPr indent="0" marL="0">
                        <a:buNone/>
                      </a:pPr>
                      <a:r>
                        <a:rPr lang="en-US" sz="1600" b="1" dirty="0">
                          <a:solidFill>
                            <a:srgbClr val="1F2933"/>
                          </a:solidFill>
                        </a:rPr>
                        <a:t>Summary</a:t>
                      </a:r>
                      <a:endParaRPr lang="en-US" sz="16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Written by hand</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Drafted by AI, checked by user</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713232">
                <a:tc>
                  <a:txBody>
                    <a:bodyPr/>
                    <a:lstStyle/>
                    <a:p>
                      <a:pPr indent="0" marL="0">
                        <a:buNone/>
                      </a:pPr>
                      <a:r>
                        <a:rPr lang="en-US" sz="1600" b="1" dirty="0">
                          <a:solidFill>
                            <a:srgbClr val="1F2933"/>
                          </a:solidFill>
                        </a:rPr>
                        <a:t>Format</a:t>
                      </a:r>
                      <a:endParaRPr lang="en-US" sz="16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Differs from person to person</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Same template every time</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713232">
                <a:tc>
                  <a:txBody>
                    <a:bodyPr/>
                    <a:lstStyle/>
                    <a:p>
                      <a:pPr indent="0" marL="0">
                        <a:buNone/>
                      </a:pPr>
                      <a:r>
                        <a:rPr lang="en-US" sz="1600" b="1" dirty="0">
                          <a:solidFill>
                            <a:srgbClr val="1F2933"/>
                          </a:solidFill>
                        </a:rPr>
                        <a:t>Repeat work</a:t>
                      </a:r>
                      <a:endParaRPr lang="en-US" sz="16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Redo all the steps</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rPr>
                        <a:t>Run again with new data</a:t>
                      </a:r>
                      <a:endParaRPr lang="en-US" sz="1500" dirty="0"/>
                    </a:p>
                  </a:txBody>
                  <a:tcPr marL="101600" marR="1016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Scope of the Project</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What the system can and cannot do</a:t>
            </a:r>
            <a:endParaRPr lang="en-US" sz="1800" dirty="0"/>
          </a:p>
        </p:txBody>
      </p:sp>
      <p:sp>
        <p:nvSpPr>
          <p:cNvPr id="5" name="The system can Header"/>
          <p:cNvSpPr txBox="1"/>
          <p:nvPr/>
        </p:nvSpPr>
        <p:spPr>
          <a:xfrm>
            <a:off x="457200" y="1508760"/>
            <a:ext cx="5486400" cy="548640"/>
          </a:xfrm>
          <a:prstGeom prst="rect">
            <a:avLst/>
          </a:prstGeom>
          <a:solidFill>
            <a:schemeClr val="accent1"/>
          </a:solidFill>
          <a:ln/>
        </p:spPr>
        <p:txBody>
          <a:bodyPr wrap="square" lIns="177800" tIns="177800" rIns="177800" bIns="177800" rtlCol="0" anchor="ctr"/>
          <a:lstStyle/>
          <a:p>
            <a:pPr indent="0" marL="0">
              <a:buNone/>
            </a:pPr>
            <a:r>
              <a:rPr lang="en-US" sz="2000" b="1" dirty="0">
                <a:solidFill>
                  <a:schemeClr val="bg1"/>
                </a:solidFill>
              </a:rPr>
              <a:t>The system can</a:t>
            </a:r>
            <a:endParaRPr lang="en-US" sz="2000" dirty="0"/>
          </a:p>
        </p:txBody>
      </p:sp>
      <p:sp>
        <p:nvSpPr>
          <p:cNvPr id="6" name="The system can Body"/>
          <p:cNvSpPr txBox="1"/>
          <p:nvPr/>
        </p:nvSpPr>
        <p:spPr>
          <a:xfrm>
            <a:off x="457200" y="2057400"/>
            <a:ext cx="5486400" cy="3291840"/>
          </a:xfrm>
          <a:prstGeom prst="rect">
            <a:avLst/>
          </a:prstGeom>
          <a:solidFill>
            <a:schemeClr val="bg2"/>
          </a:solidFill>
          <a:ln w="9525">
            <a:solidFill>
              <a:srgbClr val="C9D8EC"/>
            </a:solidFill>
          </a:ln>
        </p:spPr>
        <p:txBody>
          <a:bodyPr wrap="square" lIns="203200" tIns="203200" rIns="203200" bIns="203200" rtlCol="0" anchor="t"/>
          <a:lstStyle/>
          <a:p>
            <a:pPr algn="l" marL="203200" indent="-203200">
              <a:spcAft>
                <a:spcPts val="1000"/>
              </a:spcAft>
              <a:buSzPct val="100000"/>
              <a:buChar char="•"/>
            </a:pPr>
            <a:r>
              <a:rPr lang="en-US" sz="1900" b="1" dirty="0">
                <a:solidFill>
                  <a:schemeClr val="tx2"/>
                </a:solidFill>
              </a:rPr>
              <a:t>Read</a:t>
            </a:r>
            <a:pPr algn="l" marL="203200" indent="-203200">
              <a:spcAft>
                <a:spcPts val="1000"/>
              </a:spcAft>
              <a:buSzPct val="100000"/>
              <a:buChar char="•"/>
            </a:pPr>
            <a:r>
              <a:rPr lang="en-US" sz="1900" dirty="0">
                <a:solidFill>
                  <a:schemeClr val="tx1"/>
                </a:solidFill>
              </a:rPr>
              <a:t> data from CSV, Excel files and SQL tables</a:t>
            </a:r>
            <a:endParaRPr lang="en-US" sz="1900" dirty="0"/>
          </a:p>
          <a:p>
            <a:pPr algn="l" marL="203200" indent="-203200">
              <a:spcAft>
                <a:spcPts val="1000"/>
              </a:spcAft>
              <a:buSzPct val="100000"/>
              <a:buChar char="•"/>
            </a:pPr>
            <a:r>
              <a:rPr lang="en-US" sz="1900" b="1" dirty="0">
                <a:solidFill>
                  <a:schemeClr val="tx2"/>
                </a:solidFill>
              </a:rPr>
              <a:t>Clean data</a:t>
            </a:r>
            <a:pPr algn="l" marL="203200" indent="-203200">
              <a:spcAft>
                <a:spcPts val="1000"/>
              </a:spcAft>
              <a:buSzPct val="100000"/>
              <a:buChar char="•"/>
            </a:pPr>
            <a:r>
              <a:rPr lang="en-US" sz="1900" dirty="0">
                <a:solidFill>
                  <a:schemeClr val="tx1"/>
                </a:solidFill>
              </a:rPr>
              <a:t> and calculate totals, averages and growth</a:t>
            </a:r>
            <a:endParaRPr lang="en-US" sz="1900" dirty="0"/>
          </a:p>
          <a:p>
            <a:pPr algn="l" marL="203200" indent="-203200">
              <a:spcAft>
                <a:spcPts val="1000"/>
              </a:spcAft>
              <a:buSzPct val="100000"/>
              <a:buChar char="•"/>
            </a:pPr>
            <a:r>
              <a:rPr lang="en-US" sz="1900" b="1" dirty="0">
                <a:solidFill>
                  <a:schemeClr val="tx2"/>
                </a:solidFill>
              </a:rPr>
              <a:t>Create</a:t>
            </a:r>
            <a:pPr algn="l" marL="203200" indent="-203200">
              <a:spcAft>
                <a:spcPts val="1000"/>
              </a:spcAft>
              <a:buSzPct val="100000"/>
              <a:buChar char="•"/>
            </a:pPr>
            <a:r>
              <a:rPr lang="en-US" sz="1900" dirty="0">
                <a:solidFill>
                  <a:schemeClr val="tx1"/>
                </a:solidFill>
              </a:rPr>
              <a:t> charts and summary tables</a:t>
            </a:r>
            <a:endParaRPr lang="en-US" sz="1900" dirty="0"/>
          </a:p>
          <a:p>
            <a:pPr algn="l" marL="203200" indent="-203200">
              <a:spcAft>
                <a:spcPts val="1000"/>
              </a:spcAft>
              <a:buSzPct val="100000"/>
              <a:buChar char="•"/>
            </a:pPr>
            <a:r>
              <a:rPr lang="en-US" sz="1900" b="1" dirty="0">
                <a:solidFill>
                  <a:schemeClr val="tx2"/>
                </a:solidFill>
              </a:rPr>
              <a:t>Write</a:t>
            </a:r>
            <a:pPr algn="l" marL="203200" indent="-203200">
              <a:spcAft>
                <a:spcPts val="1000"/>
              </a:spcAft>
              <a:buSzPct val="100000"/>
              <a:buChar char="•"/>
            </a:pPr>
            <a:r>
              <a:rPr lang="en-US" sz="1900" dirty="0">
                <a:solidFill>
                  <a:schemeClr val="tx1"/>
                </a:solidFill>
              </a:rPr>
              <a:t> a short text summary using an LLM</a:t>
            </a:r>
            <a:endParaRPr lang="en-US" sz="1900" dirty="0"/>
          </a:p>
          <a:p>
            <a:pPr algn="l" marL="203200" indent="-203200">
              <a:spcAft>
                <a:spcPts val="1000"/>
              </a:spcAft>
              <a:buSzPct val="100000"/>
              <a:buChar char="•"/>
            </a:pPr>
            <a:r>
              <a:rPr lang="en-US" sz="1900" b="1" dirty="0">
                <a:solidFill>
                  <a:schemeClr val="tx2"/>
                </a:solidFill>
              </a:rPr>
              <a:t>Show</a:t>
            </a:r>
            <a:pPr algn="l" marL="203200" indent="-203200">
              <a:spcAft>
                <a:spcPts val="1000"/>
              </a:spcAft>
              <a:buSzPct val="100000"/>
              <a:buChar char="•"/>
            </a:pPr>
            <a:r>
              <a:rPr lang="en-US" sz="1900" dirty="0">
                <a:solidFill>
                  <a:schemeClr val="tx1"/>
                </a:solidFill>
              </a:rPr>
              <a:t> the report on a web dashboard and export it</a:t>
            </a:r>
            <a:endParaRPr lang="en-US" sz="1900" dirty="0"/>
          </a:p>
        </p:txBody>
      </p:sp>
      <p:sp>
        <p:nvSpPr>
          <p:cNvPr id="7" name="Limitations Header"/>
          <p:cNvSpPr txBox="1"/>
          <p:nvPr/>
        </p:nvSpPr>
        <p:spPr>
          <a:xfrm>
            <a:off x="6217920" y="1508760"/>
            <a:ext cx="5486400" cy="548640"/>
          </a:xfrm>
          <a:prstGeom prst="rect">
            <a:avLst/>
          </a:prstGeom>
          <a:solidFill>
            <a:schemeClr val="accent4"/>
          </a:solidFill>
          <a:ln/>
        </p:spPr>
        <p:txBody>
          <a:bodyPr wrap="square" lIns="177800" tIns="177800" rIns="177800" bIns="177800" rtlCol="0" anchor="ctr"/>
          <a:lstStyle/>
          <a:p>
            <a:pPr indent="0" marL="0">
              <a:buNone/>
            </a:pPr>
            <a:r>
              <a:rPr lang="en-US" sz="2000" b="1" dirty="0">
                <a:solidFill>
                  <a:schemeClr val="bg1"/>
                </a:solidFill>
              </a:rPr>
              <a:t>Limitations</a:t>
            </a:r>
            <a:endParaRPr lang="en-US" sz="2000" dirty="0"/>
          </a:p>
        </p:txBody>
      </p:sp>
      <p:sp>
        <p:nvSpPr>
          <p:cNvPr id="8" name="Limitations Body"/>
          <p:cNvSpPr txBox="1"/>
          <p:nvPr/>
        </p:nvSpPr>
        <p:spPr>
          <a:xfrm>
            <a:off x="6217920" y="2057400"/>
            <a:ext cx="5486400" cy="3291840"/>
          </a:xfrm>
          <a:prstGeom prst="rect">
            <a:avLst/>
          </a:prstGeom>
          <a:solidFill>
            <a:schemeClr val="bg2"/>
          </a:solidFill>
          <a:ln w="9525">
            <a:solidFill>
              <a:srgbClr val="C9D8EC"/>
            </a:solidFill>
          </a:ln>
        </p:spPr>
        <p:txBody>
          <a:bodyPr wrap="square" lIns="203200" tIns="203200" rIns="203200" bIns="203200" rtlCol="0" anchor="t"/>
          <a:lstStyle/>
          <a:p>
            <a:pPr algn="l" marL="203200" indent="-203200">
              <a:spcAft>
                <a:spcPts val="1000"/>
              </a:spcAft>
              <a:buSzPct val="100000"/>
              <a:buChar char="•"/>
            </a:pPr>
            <a:r>
              <a:rPr lang="en-US" sz="1900" b="1" dirty="0">
                <a:solidFill>
                  <a:schemeClr val="tx2"/>
                </a:solidFill>
              </a:rPr>
              <a:t>Structured data only</a:t>
            </a:r>
            <a:pPr algn="l" marL="203200" indent="-203200">
              <a:spcAft>
                <a:spcPts val="1000"/>
              </a:spcAft>
              <a:buSzPct val="100000"/>
              <a:buChar char="•"/>
            </a:pPr>
            <a:r>
              <a:rPr lang="en-US" sz="1900" dirty="0">
                <a:solidFill>
                  <a:schemeClr val="tx1"/>
                </a:solidFill>
              </a:rPr>
              <a:t> (table type) at the start</a:t>
            </a:r>
            <a:endParaRPr lang="en-US" sz="1900" dirty="0"/>
          </a:p>
          <a:p>
            <a:pPr algn="l" marL="203200" indent="-203200">
              <a:spcAft>
                <a:spcPts val="1000"/>
              </a:spcAft>
              <a:buSzPct val="100000"/>
              <a:buChar char="•"/>
            </a:pPr>
            <a:r>
              <a:rPr lang="en-US" sz="1900" b="1" dirty="0">
                <a:solidFill>
                  <a:schemeClr val="tx2"/>
                </a:solidFill>
              </a:rPr>
              <a:t>Internet and API key</a:t>
            </a:r>
            <a:pPr algn="l" marL="203200" indent="-203200">
              <a:spcAft>
                <a:spcPts val="1000"/>
              </a:spcAft>
              <a:buSzPct val="100000"/>
              <a:buChar char="•"/>
            </a:pPr>
            <a:r>
              <a:rPr lang="en-US" sz="1900" dirty="0">
                <a:solidFill>
                  <a:schemeClr val="tx1"/>
                </a:solidFill>
              </a:rPr>
              <a:t> needed for the LLM part</a:t>
            </a:r>
            <a:endParaRPr lang="en-US" sz="1900" dirty="0"/>
          </a:p>
          <a:p>
            <a:pPr algn="l" marL="203200" indent="-203200">
              <a:spcAft>
                <a:spcPts val="1000"/>
              </a:spcAft>
              <a:buSzPct val="100000"/>
              <a:buChar char="•"/>
            </a:pPr>
            <a:r>
              <a:rPr lang="en-US" sz="1900" b="1" dirty="0">
                <a:solidFill>
                  <a:schemeClr val="tx2"/>
                </a:solidFill>
              </a:rPr>
              <a:t>Not designed</a:t>
            </a:r>
            <a:pPr algn="l" marL="203200" indent="-203200">
              <a:spcAft>
                <a:spcPts val="1000"/>
              </a:spcAft>
              <a:buSzPct val="100000"/>
              <a:buChar char="•"/>
            </a:pPr>
            <a:r>
              <a:rPr lang="en-US" sz="1900" dirty="0">
                <a:solidFill>
                  <a:schemeClr val="tx1"/>
                </a:solidFill>
              </a:rPr>
              <a:t> for very large (big data) datasets</a:t>
            </a:r>
            <a:endParaRPr lang="en-US" sz="1900" dirty="0"/>
          </a:p>
          <a:p>
            <a:pPr algn="l" marL="203200" indent="-203200">
              <a:spcAft>
                <a:spcPts val="1000"/>
              </a:spcAft>
              <a:buSzPct val="100000"/>
              <a:buChar char="•"/>
            </a:pPr>
            <a:r>
              <a:rPr lang="en-US" sz="1900" b="1" dirty="0">
                <a:solidFill>
                  <a:schemeClr val="tx2"/>
                </a:solidFill>
              </a:rPr>
              <a:t>No live data</a:t>
            </a:r>
            <a:pPr algn="l" marL="203200" indent="-203200">
              <a:spcAft>
                <a:spcPts val="1000"/>
              </a:spcAft>
              <a:buSzPct val="100000"/>
              <a:buChar char="•"/>
            </a:pPr>
            <a:r>
              <a:rPr lang="en-US" sz="1900" dirty="0">
                <a:solidFill>
                  <a:schemeClr val="tx1"/>
                </a:solidFill>
              </a:rPr>
              <a:t> streaming or future predictions</a:t>
            </a:r>
            <a:endParaRPr lang="en-US" sz="1900" dirty="0"/>
          </a:p>
          <a:p>
            <a:pPr algn="l" marL="203200" indent="-203200">
              <a:spcAft>
                <a:spcPts val="1000"/>
              </a:spcAft>
              <a:buSzPct val="100000"/>
              <a:buChar char="•"/>
            </a:pPr>
            <a:r>
              <a:rPr lang="en-US" sz="1900" b="1" dirty="0">
                <a:solidFill>
                  <a:schemeClr val="tx2"/>
                </a:solidFill>
              </a:rPr>
              <a:t>Only a few</a:t>
            </a:r>
            <a:pPr algn="l" marL="203200" indent="-203200">
              <a:spcAft>
                <a:spcPts val="1000"/>
              </a:spcAft>
              <a:buSzPct val="100000"/>
              <a:buChar char="•"/>
            </a:pPr>
            <a:r>
              <a:rPr lang="en-US" sz="1900" dirty="0">
                <a:solidFill>
                  <a:schemeClr val="tx1"/>
                </a:solidFill>
              </a:rPr>
              <a:t> fixed report templates</a:t>
            </a:r>
            <a:endParaRPr lang="en-US" sz="19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System Architecture</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Main components and how they connect</a:t>
            </a:r>
            <a:endParaRPr lang="en-US" sz="1800" dirty="0"/>
          </a:p>
        </p:txBody>
      </p:sp>
      <p:sp>
        <p:nvSpPr>
          <p:cNvPr id="5" name="User"/>
          <p:cNvSpPr txBox="1"/>
          <p:nvPr/>
        </p:nvSpPr>
        <p:spPr>
          <a:xfrm>
            <a:off x="4937760" y="1463040"/>
            <a:ext cx="2286000" cy="457200"/>
          </a:xfrm>
          <a:prstGeom prst="roundRect">
            <a:avLst>
              <a:gd name="adj" fmla="val 16000"/>
            </a:avLst>
          </a:prstGeom>
          <a:solidFill>
            <a:schemeClr val="accent4"/>
          </a:solidFill>
          <a:ln w="12700">
            <a:solidFill>
              <a:schemeClr val="accent4"/>
            </a:solidFill>
          </a:ln>
        </p:spPr>
        <p:txBody>
          <a:bodyPr wrap="square" lIns="76200" tIns="76200" rIns="76200" bIns="76200" rtlCol="0" anchor="ctr"/>
          <a:lstStyle/>
          <a:p>
            <a:pPr algn="ctr" indent="0" marL="0">
              <a:buNone/>
            </a:pPr>
            <a:r>
              <a:rPr lang="en-US" sz="1500" b="1" dirty="0">
                <a:solidFill>
                  <a:schemeClr val="bg1"/>
                </a:solidFill>
              </a:rPr>
              <a:t>User</a:t>
            </a:r>
            <a:endParaRPr lang="en-US" sz="1500" dirty="0"/>
          </a:p>
        </p:txBody>
      </p:sp>
      <p:sp>
        <p:nvSpPr>
          <p:cNvPr id="6" name="Shape 3"/>
          <p:cNvSpPr/>
          <p:nvPr/>
        </p:nvSpPr>
        <p:spPr>
          <a:xfrm>
            <a:off x="6080760" y="1920240"/>
            <a:ext cx="0" cy="274320"/>
          </a:xfrm>
          <a:prstGeom prst="line">
            <a:avLst/>
          </a:prstGeom>
          <a:noFill/>
          <a:ln w="25400">
            <a:solidFill>
              <a:schemeClr val="accent4"/>
            </a:solidFill>
            <a:prstDash val="solid"/>
            <a:headEnd type="triangle"/>
            <a:tailEnd type="triangle"/>
          </a:ln>
        </p:spPr>
      </p:sp>
      <p:sp>
        <p:nvSpPr>
          <p:cNvPr id="7" name="Web Interface (Streamlit)"/>
          <p:cNvSpPr txBox="1"/>
          <p:nvPr/>
        </p:nvSpPr>
        <p:spPr>
          <a:xfrm>
            <a:off x="457200" y="2194560"/>
            <a:ext cx="11247120" cy="685800"/>
          </a:xfrm>
          <a:prstGeom prst="roundRect">
            <a:avLst>
              <a:gd name="adj" fmla="val 10667"/>
            </a:avLst>
          </a:prstGeom>
          <a:solidFill>
            <a:schemeClr val="accent1"/>
          </a:solidFill>
          <a:ln w="12700">
            <a:solidFill>
              <a:schemeClr val="accent1"/>
            </a:solidFill>
          </a:ln>
        </p:spPr>
        <p:txBody>
          <a:bodyPr wrap="square" lIns="76200" tIns="76200" rIns="76200" bIns="76200" rtlCol="0" anchor="ctr"/>
          <a:lstStyle/>
          <a:p>
            <a:pPr algn="ctr" indent="0" marL="0">
              <a:buNone/>
            </a:pPr>
            <a:r>
              <a:rPr lang="en-US" sz="1700" b="1" dirty="0">
                <a:solidFill>
                  <a:schemeClr val="bg1"/>
                </a:solidFill>
              </a:rPr>
              <a:t>Web Interface (Streamlit)</a:t>
            </a:r>
            <a:endParaRPr lang="en-US" sz="1700" dirty="0"/>
          </a:p>
          <a:p>
            <a:pPr algn="ctr" indent="0" marL="0">
              <a:buNone/>
            </a:pPr>
            <a:r>
              <a:rPr lang="en-US" sz="1400" dirty="0">
                <a:solidFill>
                  <a:schemeClr val="bg1"/>
                </a:solidFill>
              </a:rPr>
              <a:t>Upload a file, choose the report type, view the dashboard, download the report</a:t>
            </a:r>
            <a:endParaRPr lang="en-US" sz="1700" dirty="0"/>
          </a:p>
        </p:txBody>
      </p:sp>
      <p:sp>
        <p:nvSpPr>
          <p:cNvPr id="8" name="Data Sources"/>
          <p:cNvSpPr txBox="1"/>
          <p:nvPr/>
        </p:nvSpPr>
        <p:spPr>
          <a:xfrm>
            <a:off x="457200" y="3383280"/>
            <a:ext cx="1828800" cy="1463040"/>
          </a:xfrm>
          <a:prstGeom prst="roundRect">
            <a:avLst>
              <a:gd name="adj" fmla="val 5000"/>
            </a:avLst>
          </a:prstGeom>
          <a:solidFill>
            <a:schemeClr val="bg2"/>
          </a:solidFill>
          <a:ln w="12700">
            <a:solidFill>
              <a:srgbClr val="C9D8EC"/>
            </a:solidFill>
          </a:ln>
        </p:spPr>
        <p:txBody>
          <a:bodyPr wrap="square" lIns="76200" tIns="76200" rIns="76200" bIns="76200" rtlCol="0" anchor="ctr"/>
          <a:lstStyle/>
          <a:p>
            <a:pPr algn="ctr" indent="0" marL="0">
              <a:buNone/>
            </a:pPr>
            <a:r>
              <a:rPr lang="en-US" sz="1500" b="1" dirty="0">
                <a:solidFill>
                  <a:schemeClr val="tx2"/>
                </a:solidFill>
              </a:rPr>
              <a:t>Data Sources</a:t>
            </a:r>
            <a:endParaRPr lang="en-US" sz="1500" dirty="0"/>
          </a:p>
          <a:p>
            <a:pPr algn="ctr" indent="0" marL="0">
              <a:buNone/>
            </a:pPr>
            <a:r>
              <a:rPr lang="en-US" sz="1300" dirty="0">
                <a:solidFill>
                  <a:schemeClr val="tx1"/>
                </a:solidFill>
              </a:rPr>
              <a:t>CSV, Excel files or a SQL database</a:t>
            </a:r>
            <a:endParaRPr lang="en-US" sz="1500" dirty="0"/>
          </a:p>
        </p:txBody>
      </p:sp>
      <p:sp>
        <p:nvSpPr>
          <p:cNvPr id="9" name="Shape 6"/>
          <p:cNvSpPr/>
          <p:nvPr/>
        </p:nvSpPr>
        <p:spPr>
          <a:xfrm>
            <a:off x="2286000" y="4114800"/>
            <a:ext cx="525780" cy="0"/>
          </a:xfrm>
          <a:prstGeom prst="line">
            <a:avLst/>
          </a:prstGeom>
          <a:noFill/>
          <a:ln w="25400">
            <a:solidFill>
              <a:schemeClr val="accent4"/>
            </a:solidFill>
            <a:prstDash val="solid"/>
            <a:tailEnd type="triangle"/>
          </a:ln>
        </p:spPr>
      </p:sp>
      <p:sp>
        <p:nvSpPr>
          <p:cNvPr id="10" name="Data Processing"/>
          <p:cNvSpPr txBox="1"/>
          <p:nvPr/>
        </p:nvSpPr>
        <p:spPr>
          <a:xfrm>
            <a:off x="2811780" y="3383280"/>
            <a:ext cx="1828800" cy="1463040"/>
          </a:xfrm>
          <a:prstGeom prst="roundRect">
            <a:avLst>
              <a:gd name="adj" fmla="val 5000"/>
            </a:avLst>
          </a:prstGeom>
          <a:solidFill>
            <a:schemeClr val="bg2"/>
          </a:solidFill>
          <a:ln w="12700">
            <a:solidFill>
              <a:srgbClr val="C9D8EC"/>
            </a:solidFill>
          </a:ln>
        </p:spPr>
        <p:txBody>
          <a:bodyPr wrap="square" lIns="76200" tIns="76200" rIns="76200" bIns="76200" rtlCol="0" anchor="ctr"/>
          <a:lstStyle/>
          <a:p>
            <a:pPr algn="ctr" indent="0" marL="0">
              <a:buNone/>
            </a:pPr>
            <a:r>
              <a:rPr lang="en-US" sz="1500" b="1" dirty="0">
                <a:solidFill>
                  <a:schemeClr val="tx2"/>
                </a:solidFill>
              </a:rPr>
              <a:t>Data Processing</a:t>
            </a:r>
            <a:endParaRPr lang="en-US" sz="1500" dirty="0"/>
          </a:p>
          <a:p>
            <a:pPr algn="ctr" indent="0" marL="0">
              <a:buNone/>
            </a:pPr>
            <a:r>
              <a:rPr lang="en-US" sz="1300" dirty="0">
                <a:solidFill>
                  <a:schemeClr val="tx1"/>
                </a:solidFill>
              </a:rPr>
              <a:t>Python + Pandas: remove duplicates, fix dates, fill gaps</a:t>
            </a:r>
            <a:endParaRPr lang="en-US" sz="1500" dirty="0"/>
          </a:p>
        </p:txBody>
      </p:sp>
      <p:sp>
        <p:nvSpPr>
          <p:cNvPr id="11" name="Shape 8"/>
          <p:cNvSpPr/>
          <p:nvPr/>
        </p:nvSpPr>
        <p:spPr>
          <a:xfrm>
            <a:off x="4640580" y="4114800"/>
            <a:ext cx="525780" cy="0"/>
          </a:xfrm>
          <a:prstGeom prst="line">
            <a:avLst/>
          </a:prstGeom>
          <a:noFill/>
          <a:ln w="25400">
            <a:solidFill>
              <a:schemeClr val="accent4"/>
            </a:solidFill>
            <a:prstDash val="solid"/>
            <a:tailEnd type="triangle"/>
          </a:ln>
        </p:spPr>
      </p:sp>
      <p:sp>
        <p:nvSpPr>
          <p:cNvPr id="12" name="Analysis Module"/>
          <p:cNvSpPr txBox="1"/>
          <p:nvPr/>
        </p:nvSpPr>
        <p:spPr>
          <a:xfrm>
            <a:off x="5166360" y="3383280"/>
            <a:ext cx="1828800" cy="1463040"/>
          </a:xfrm>
          <a:prstGeom prst="roundRect">
            <a:avLst>
              <a:gd name="adj" fmla="val 5000"/>
            </a:avLst>
          </a:prstGeom>
          <a:solidFill>
            <a:schemeClr val="bg2"/>
          </a:solidFill>
          <a:ln w="12700">
            <a:solidFill>
              <a:srgbClr val="C9D8EC"/>
            </a:solidFill>
          </a:ln>
        </p:spPr>
        <p:txBody>
          <a:bodyPr wrap="square" lIns="76200" tIns="76200" rIns="76200" bIns="76200" rtlCol="0" anchor="ctr"/>
          <a:lstStyle/>
          <a:p>
            <a:pPr algn="ctr" indent="0" marL="0">
              <a:buNone/>
            </a:pPr>
            <a:r>
              <a:rPr lang="en-US" sz="1500" b="1" dirty="0">
                <a:solidFill>
                  <a:schemeClr val="tx2"/>
                </a:solidFill>
              </a:rPr>
              <a:t>Analysis Module</a:t>
            </a:r>
            <a:endParaRPr lang="en-US" sz="1500" dirty="0"/>
          </a:p>
          <a:p>
            <a:pPr algn="ctr" indent="0" marL="0">
              <a:buNone/>
            </a:pPr>
            <a:r>
              <a:rPr lang="en-US" sz="1300" dirty="0">
                <a:solidFill>
                  <a:schemeClr val="tx1"/>
                </a:solidFill>
              </a:rPr>
              <a:t>Totals, averages, growth % and trends</a:t>
            </a:r>
            <a:endParaRPr lang="en-US" sz="1500" dirty="0"/>
          </a:p>
        </p:txBody>
      </p:sp>
      <p:sp>
        <p:nvSpPr>
          <p:cNvPr id="13" name="Shape 10"/>
          <p:cNvSpPr/>
          <p:nvPr/>
        </p:nvSpPr>
        <p:spPr>
          <a:xfrm>
            <a:off x="6995160" y="4114800"/>
            <a:ext cx="525780" cy="0"/>
          </a:xfrm>
          <a:prstGeom prst="line">
            <a:avLst/>
          </a:prstGeom>
          <a:noFill/>
          <a:ln w="25400">
            <a:solidFill>
              <a:schemeClr val="accent4"/>
            </a:solidFill>
            <a:prstDash val="solid"/>
            <a:tailEnd type="triangle"/>
          </a:ln>
        </p:spPr>
      </p:sp>
      <p:sp>
        <p:nvSpPr>
          <p:cNvPr id="14" name="AI Summary Module"/>
          <p:cNvSpPr txBox="1"/>
          <p:nvPr/>
        </p:nvSpPr>
        <p:spPr>
          <a:xfrm>
            <a:off x="7520940" y="3383280"/>
            <a:ext cx="1828800" cy="1463040"/>
          </a:xfrm>
          <a:prstGeom prst="roundRect">
            <a:avLst>
              <a:gd name="adj" fmla="val 5000"/>
            </a:avLst>
          </a:prstGeom>
          <a:solidFill>
            <a:schemeClr val="bg2"/>
          </a:solidFill>
          <a:ln w="12700">
            <a:solidFill>
              <a:srgbClr val="C9D8EC"/>
            </a:solidFill>
          </a:ln>
        </p:spPr>
        <p:txBody>
          <a:bodyPr wrap="square" lIns="76200" tIns="76200" rIns="76200" bIns="76200" rtlCol="0" anchor="ctr"/>
          <a:lstStyle/>
          <a:p>
            <a:pPr algn="ctr" indent="0" marL="0">
              <a:buNone/>
            </a:pPr>
            <a:r>
              <a:rPr lang="en-US" sz="1500" b="1" dirty="0">
                <a:solidFill>
                  <a:schemeClr val="tx2"/>
                </a:solidFill>
              </a:rPr>
              <a:t>AI Summary Module</a:t>
            </a:r>
            <a:endParaRPr lang="en-US" sz="1500" dirty="0"/>
          </a:p>
          <a:p>
            <a:pPr algn="ctr" indent="0" marL="0">
              <a:buNone/>
            </a:pPr>
            <a:r>
              <a:rPr lang="en-US" sz="1300" dirty="0">
                <a:solidFill>
                  <a:schemeClr val="tx1"/>
                </a:solidFill>
              </a:rPr>
              <a:t>LLM API: writes a short text summary</a:t>
            </a:r>
            <a:endParaRPr lang="en-US" sz="1500" dirty="0"/>
          </a:p>
        </p:txBody>
      </p:sp>
      <p:sp>
        <p:nvSpPr>
          <p:cNvPr id="15" name="Shape 12"/>
          <p:cNvSpPr/>
          <p:nvPr/>
        </p:nvSpPr>
        <p:spPr>
          <a:xfrm>
            <a:off x="9349740" y="4114800"/>
            <a:ext cx="525780" cy="0"/>
          </a:xfrm>
          <a:prstGeom prst="line">
            <a:avLst/>
          </a:prstGeom>
          <a:noFill/>
          <a:ln w="25400">
            <a:solidFill>
              <a:schemeClr val="accent4"/>
            </a:solidFill>
            <a:prstDash val="solid"/>
            <a:tailEnd type="triangle"/>
          </a:ln>
        </p:spPr>
      </p:sp>
      <p:sp>
        <p:nvSpPr>
          <p:cNvPr id="16" name="Report Generator"/>
          <p:cNvSpPr txBox="1"/>
          <p:nvPr/>
        </p:nvSpPr>
        <p:spPr>
          <a:xfrm>
            <a:off x="9875520" y="3383280"/>
            <a:ext cx="1828800" cy="1463040"/>
          </a:xfrm>
          <a:prstGeom prst="roundRect">
            <a:avLst>
              <a:gd name="adj" fmla="val 5000"/>
            </a:avLst>
          </a:prstGeom>
          <a:solidFill>
            <a:schemeClr val="bg2"/>
          </a:solidFill>
          <a:ln w="12700">
            <a:solidFill>
              <a:srgbClr val="C9D8EC"/>
            </a:solidFill>
          </a:ln>
        </p:spPr>
        <p:txBody>
          <a:bodyPr wrap="square" lIns="76200" tIns="76200" rIns="76200" bIns="76200" rtlCol="0" anchor="ctr"/>
          <a:lstStyle/>
          <a:p>
            <a:pPr algn="ctr" indent="0" marL="0">
              <a:buNone/>
            </a:pPr>
            <a:r>
              <a:rPr lang="en-US" sz="1500" b="1" dirty="0">
                <a:solidFill>
                  <a:schemeClr val="tx2"/>
                </a:solidFill>
              </a:rPr>
              <a:t>Report Generator</a:t>
            </a:r>
            <a:endParaRPr lang="en-US" sz="1500" dirty="0"/>
          </a:p>
          <a:p>
            <a:pPr algn="ctr" indent="0" marL="0">
              <a:buNone/>
            </a:pPr>
            <a:r>
              <a:rPr lang="en-US" sz="1300" dirty="0">
                <a:solidFill>
                  <a:schemeClr val="tx1"/>
                </a:solidFill>
              </a:rPr>
              <a:t>Combines tables, charts and summary</a:t>
            </a:r>
            <a:endParaRPr lang="en-US" sz="1500" dirty="0"/>
          </a:p>
        </p:txBody>
      </p:sp>
      <p:sp>
        <p:nvSpPr>
          <p:cNvPr id="17" name="Shape 14"/>
          <p:cNvSpPr/>
          <p:nvPr/>
        </p:nvSpPr>
        <p:spPr>
          <a:xfrm>
            <a:off x="1371600" y="2880360"/>
            <a:ext cx="0" cy="502920"/>
          </a:xfrm>
          <a:prstGeom prst="line">
            <a:avLst/>
          </a:prstGeom>
          <a:noFill/>
          <a:ln w="25400">
            <a:solidFill>
              <a:schemeClr val="accent4"/>
            </a:solidFill>
            <a:prstDash val="solid"/>
            <a:tailEnd type="triangle"/>
          </a:ln>
        </p:spPr>
      </p:sp>
      <p:sp>
        <p:nvSpPr>
          <p:cNvPr id="18" name="Text 15"/>
          <p:cNvSpPr txBox="1"/>
          <p:nvPr/>
        </p:nvSpPr>
        <p:spPr>
          <a:xfrm>
            <a:off x="1481328" y="2999232"/>
            <a:ext cx="1188720" cy="274320"/>
          </a:xfrm>
          <a:prstGeom prst="rect">
            <a:avLst/>
          </a:prstGeom>
          <a:noFill/>
          <a:ln/>
        </p:spPr>
        <p:txBody>
          <a:bodyPr wrap="square" lIns="0" tIns="0" rIns="0" bIns="0" rtlCol="0" anchor="ctr"/>
          <a:lstStyle/>
          <a:p>
            <a:pPr indent="0" marL="0">
              <a:buNone/>
            </a:pPr>
            <a:r>
              <a:rPr lang="en-US" sz="1200" dirty="0">
                <a:solidFill>
                  <a:schemeClr val="accent4"/>
                </a:solidFill>
              </a:rPr>
              <a:t>upload data</a:t>
            </a:r>
            <a:endParaRPr lang="en-US" sz="1200" dirty="0"/>
          </a:p>
        </p:txBody>
      </p:sp>
      <p:sp>
        <p:nvSpPr>
          <p:cNvPr id="19" name="Shape 16"/>
          <p:cNvSpPr/>
          <p:nvPr/>
        </p:nvSpPr>
        <p:spPr>
          <a:xfrm flipV="1">
            <a:off x="10789920" y="2880360"/>
            <a:ext cx="0" cy="502920"/>
          </a:xfrm>
          <a:prstGeom prst="line">
            <a:avLst/>
          </a:prstGeom>
          <a:noFill/>
          <a:ln w="25400">
            <a:solidFill>
              <a:schemeClr val="accent4"/>
            </a:solidFill>
            <a:prstDash val="solid"/>
            <a:tailEnd type="triangle"/>
          </a:ln>
        </p:spPr>
      </p:sp>
      <p:sp>
        <p:nvSpPr>
          <p:cNvPr id="20" name="Text 17"/>
          <p:cNvSpPr txBox="1"/>
          <p:nvPr/>
        </p:nvSpPr>
        <p:spPr>
          <a:xfrm>
            <a:off x="9491472" y="2999232"/>
            <a:ext cx="1188720" cy="274320"/>
          </a:xfrm>
          <a:prstGeom prst="rect">
            <a:avLst/>
          </a:prstGeom>
          <a:noFill/>
          <a:ln/>
        </p:spPr>
        <p:txBody>
          <a:bodyPr wrap="square" lIns="0" tIns="0" rIns="0" bIns="0" rtlCol="0" anchor="ctr"/>
          <a:lstStyle/>
          <a:p>
            <a:pPr algn="r" indent="0" marL="0">
              <a:buNone/>
            </a:pPr>
            <a:r>
              <a:rPr lang="en-US" sz="1200" dirty="0">
                <a:solidFill>
                  <a:schemeClr val="accent4"/>
                </a:solidFill>
              </a:rPr>
              <a:t>final report</a:t>
            </a:r>
            <a:endParaRPr lang="en-US" sz="1200" dirty="0"/>
          </a:p>
        </p:txBody>
      </p:sp>
      <p:sp>
        <p:nvSpPr>
          <p:cNvPr id="21" name="Database (SQLite / MySQL)"/>
          <p:cNvSpPr txBox="1"/>
          <p:nvPr/>
        </p:nvSpPr>
        <p:spPr>
          <a:xfrm>
            <a:off x="2834640" y="5349240"/>
            <a:ext cx="8412480" cy="640080"/>
          </a:xfrm>
          <a:prstGeom prst="roundRect">
            <a:avLst>
              <a:gd name="adj" fmla="val 11429"/>
            </a:avLst>
          </a:prstGeom>
          <a:solidFill>
            <a:schemeClr val="tx2"/>
          </a:solidFill>
          <a:ln w="12700">
            <a:solidFill>
              <a:schemeClr val="tx2"/>
            </a:solidFill>
          </a:ln>
        </p:spPr>
        <p:txBody>
          <a:bodyPr wrap="square" lIns="76200" tIns="76200" rIns="76200" bIns="76200" rtlCol="0" anchor="ctr"/>
          <a:lstStyle/>
          <a:p>
            <a:pPr algn="ctr" indent="0" marL="0">
              <a:buNone/>
            </a:pPr>
            <a:r>
              <a:rPr lang="en-US" sz="1500" b="1" dirty="0">
                <a:solidFill>
                  <a:schemeClr val="bg1"/>
                </a:solidFill>
              </a:rPr>
              <a:t>Database (SQLite / MySQL)</a:t>
            </a:r>
            <a:endParaRPr lang="en-US" sz="1500" dirty="0"/>
          </a:p>
          <a:p>
            <a:pPr algn="ctr" indent="0" marL="0">
              <a:buNone/>
            </a:pPr>
            <a:r>
              <a:rPr lang="en-US" sz="1200" dirty="0">
                <a:solidFill>
                  <a:schemeClr val="bg1"/>
                </a:solidFill>
              </a:rPr>
              <a:t>Stores processed data and past reports</a:t>
            </a:r>
            <a:endParaRPr lang="en-US" sz="1500" dirty="0"/>
          </a:p>
        </p:txBody>
      </p:sp>
      <p:sp>
        <p:nvSpPr>
          <p:cNvPr id="22" name="Shape 19"/>
          <p:cNvSpPr/>
          <p:nvPr/>
        </p:nvSpPr>
        <p:spPr>
          <a:xfrm>
            <a:off x="3726180" y="4846320"/>
            <a:ext cx="0" cy="502920"/>
          </a:xfrm>
          <a:prstGeom prst="line">
            <a:avLst/>
          </a:prstGeom>
          <a:noFill/>
          <a:ln w="25400">
            <a:solidFill>
              <a:schemeClr val="accent4"/>
            </a:solidFill>
            <a:prstDash val="solid"/>
            <a:headEnd type="triangle"/>
            <a:tailEnd type="triangle"/>
          </a:ln>
        </p:spPr>
      </p:sp>
      <p:sp>
        <p:nvSpPr>
          <p:cNvPr id="23" name="Shape 20"/>
          <p:cNvSpPr/>
          <p:nvPr/>
        </p:nvSpPr>
        <p:spPr>
          <a:xfrm>
            <a:off x="10789920" y="4846320"/>
            <a:ext cx="0" cy="502920"/>
          </a:xfrm>
          <a:prstGeom prst="line">
            <a:avLst/>
          </a:prstGeom>
          <a:noFill/>
          <a:ln w="25400">
            <a:solidFill>
              <a:schemeClr val="accent4"/>
            </a:solidFill>
            <a:prstDash val="solid"/>
            <a:headEnd type="triangle"/>
            <a:tailEnd type="triangle"/>
          </a:ln>
        </p:spPr>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Working Methodology</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Step-by-step flow of the proposed system</a:t>
            </a:r>
            <a:endParaRPr lang="en-US" sz="1800" dirty="0"/>
          </a:p>
        </p:txBody>
      </p:sp>
      <p:sp>
        <p:nvSpPr>
          <p:cNvPr id="5" name="Step 1"/>
          <p:cNvSpPr txBox="1"/>
          <p:nvPr/>
        </p:nvSpPr>
        <p:spPr>
          <a:xfrm>
            <a:off x="457200" y="1508760"/>
            <a:ext cx="16459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100" b="1" dirty="0">
                <a:solidFill>
                  <a:schemeClr val="accent3"/>
                </a:solidFill>
              </a:rPr>
              <a:t>STEP 1</a:t>
            </a:r>
            <a:endParaRPr lang="en-US" sz="1100" dirty="0"/>
          </a:p>
          <a:p>
            <a:pPr algn="ctr" indent="0" marL="0">
              <a:buNone/>
            </a:pPr>
            <a:r>
              <a:rPr lang="en-US" sz="1500" b="1" dirty="0">
                <a:solidFill>
                  <a:schemeClr val="bg1"/>
                </a:solidFill>
              </a:rPr>
              <a:t>Input Data</a:t>
            </a:r>
            <a:endParaRPr lang="en-US" sz="1100" dirty="0"/>
          </a:p>
        </p:txBody>
      </p:sp>
      <p:sp>
        <p:nvSpPr>
          <p:cNvPr id="6" name="Shape 3"/>
          <p:cNvSpPr/>
          <p:nvPr/>
        </p:nvSpPr>
        <p:spPr>
          <a:xfrm>
            <a:off x="2103120" y="1965960"/>
            <a:ext cx="274320" cy="0"/>
          </a:xfrm>
          <a:prstGeom prst="line">
            <a:avLst/>
          </a:prstGeom>
          <a:noFill/>
          <a:ln w="25400">
            <a:solidFill>
              <a:schemeClr val="accent4"/>
            </a:solidFill>
            <a:prstDash val="solid"/>
            <a:tailEnd type="triangle"/>
          </a:ln>
        </p:spPr>
      </p:sp>
      <p:sp>
        <p:nvSpPr>
          <p:cNvPr id="7" name="Step 1 Text"/>
          <p:cNvSpPr txBox="1"/>
          <p:nvPr/>
        </p:nvSpPr>
        <p:spPr>
          <a:xfrm>
            <a:off x="457200" y="2606040"/>
            <a:ext cx="1645920" cy="1554480"/>
          </a:xfrm>
          <a:prstGeom prst="rect">
            <a:avLst/>
          </a:prstGeom>
          <a:noFill/>
          <a:ln/>
        </p:spPr>
        <p:txBody>
          <a:bodyPr wrap="square" lIns="0" tIns="0" rIns="0" bIns="0" rtlCol="0" anchor="t"/>
          <a:lstStyle/>
          <a:p>
            <a:pPr indent="0" marL="0">
              <a:buNone/>
            </a:pPr>
            <a:r>
              <a:rPr lang="en-US" sz="1600" dirty="0">
                <a:solidFill>
                  <a:schemeClr val="tx1"/>
                </a:solidFill>
              </a:rPr>
              <a:t>User uploads CSV/Excel or connects a database</a:t>
            </a:r>
            <a:endParaRPr lang="en-US" sz="1600" dirty="0"/>
          </a:p>
        </p:txBody>
      </p:sp>
      <p:sp>
        <p:nvSpPr>
          <p:cNvPr id="8" name="Step 2"/>
          <p:cNvSpPr txBox="1"/>
          <p:nvPr/>
        </p:nvSpPr>
        <p:spPr>
          <a:xfrm>
            <a:off x="2377440" y="1508760"/>
            <a:ext cx="16459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100" b="1" dirty="0">
                <a:solidFill>
                  <a:schemeClr val="accent3"/>
                </a:solidFill>
              </a:rPr>
              <a:t>STEP 2</a:t>
            </a:r>
            <a:endParaRPr lang="en-US" sz="1100" dirty="0"/>
          </a:p>
          <a:p>
            <a:pPr algn="ctr" indent="0" marL="0">
              <a:buNone/>
            </a:pPr>
            <a:r>
              <a:rPr lang="en-US" sz="1500" b="1" dirty="0">
                <a:solidFill>
                  <a:schemeClr val="bg1"/>
                </a:solidFill>
              </a:rPr>
              <a:t>Clean Data</a:t>
            </a:r>
            <a:endParaRPr lang="en-US" sz="1100" dirty="0"/>
          </a:p>
        </p:txBody>
      </p:sp>
      <p:sp>
        <p:nvSpPr>
          <p:cNvPr id="9" name="Shape 6"/>
          <p:cNvSpPr/>
          <p:nvPr/>
        </p:nvSpPr>
        <p:spPr>
          <a:xfrm>
            <a:off x="4023360" y="1965960"/>
            <a:ext cx="274320" cy="0"/>
          </a:xfrm>
          <a:prstGeom prst="line">
            <a:avLst/>
          </a:prstGeom>
          <a:noFill/>
          <a:ln w="25400">
            <a:solidFill>
              <a:schemeClr val="accent4"/>
            </a:solidFill>
            <a:prstDash val="solid"/>
            <a:tailEnd type="triangle"/>
          </a:ln>
        </p:spPr>
      </p:sp>
      <p:sp>
        <p:nvSpPr>
          <p:cNvPr id="10" name="Step 2 Text"/>
          <p:cNvSpPr txBox="1"/>
          <p:nvPr/>
        </p:nvSpPr>
        <p:spPr>
          <a:xfrm>
            <a:off x="2377440" y="2606040"/>
            <a:ext cx="1645920" cy="1554480"/>
          </a:xfrm>
          <a:prstGeom prst="rect">
            <a:avLst/>
          </a:prstGeom>
          <a:noFill/>
          <a:ln/>
        </p:spPr>
        <p:txBody>
          <a:bodyPr wrap="square" lIns="0" tIns="0" rIns="0" bIns="0" rtlCol="0" anchor="t"/>
          <a:lstStyle/>
          <a:p>
            <a:pPr indent="0" marL="0">
              <a:buNone/>
            </a:pPr>
            <a:r>
              <a:rPr lang="en-US" sz="1600" dirty="0">
                <a:solidFill>
                  <a:schemeClr val="tx1"/>
                </a:solidFill>
              </a:rPr>
              <a:t>Remove duplicates, fix dates, handle missing values</a:t>
            </a:r>
            <a:endParaRPr lang="en-US" sz="1600" dirty="0"/>
          </a:p>
        </p:txBody>
      </p:sp>
      <p:sp>
        <p:nvSpPr>
          <p:cNvPr id="11" name="Step 3"/>
          <p:cNvSpPr txBox="1"/>
          <p:nvPr/>
        </p:nvSpPr>
        <p:spPr>
          <a:xfrm>
            <a:off x="4297680" y="1508760"/>
            <a:ext cx="16459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100" b="1" dirty="0">
                <a:solidFill>
                  <a:schemeClr val="accent3"/>
                </a:solidFill>
              </a:rPr>
              <a:t>STEP 3</a:t>
            </a:r>
            <a:endParaRPr lang="en-US" sz="1100" dirty="0"/>
          </a:p>
          <a:p>
            <a:pPr algn="ctr" indent="0" marL="0">
              <a:buNone/>
            </a:pPr>
            <a:r>
              <a:rPr lang="en-US" sz="1500" b="1" dirty="0">
                <a:solidFill>
                  <a:schemeClr val="bg1"/>
                </a:solidFill>
              </a:rPr>
              <a:t>Analyze</a:t>
            </a:r>
            <a:endParaRPr lang="en-US" sz="1100" dirty="0"/>
          </a:p>
        </p:txBody>
      </p:sp>
      <p:sp>
        <p:nvSpPr>
          <p:cNvPr id="12" name="Shape 9"/>
          <p:cNvSpPr/>
          <p:nvPr/>
        </p:nvSpPr>
        <p:spPr>
          <a:xfrm>
            <a:off x="5943600" y="1965960"/>
            <a:ext cx="274320" cy="0"/>
          </a:xfrm>
          <a:prstGeom prst="line">
            <a:avLst/>
          </a:prstGeom>
          <a:noFill/>
          <a:ln w="25400">
            <a:solidFill>
              <a:schemeClr val="accent4"/>
            </a:solidFill>
            <a:prstDash val="solid"/>
            <a:tailEnd type="triangle"/>
          </a:ln>
        </p:spPr>
      </p:sp>
      <p:sp>
        <p:nvSpPr>
          <p:cNvPr id="13" name="Step 3 Text"/>
          <p:cNvSpPr txBox="1"/>
          <p:nvPr/>
        </p:nvSpPr>
        <p:spPr>
          <a:xfrm>
            <a:off x="4297680" y="2606040"/>
            <a:ext cx="1645920" cy="1554480"/>
          </a:xfrm>
          <a:prstGeom prst="rect">
            <a:avLst/>
          </a:prstGeom>
          <a:noFill/>
          <a:ln/>
        </p:spPr>
        <p:txBody>
          <a:bodyPr wrap="square" lIns="0" tIns="0" rIns="0" bIns="0" rtlCol="0" anchor="t"/>
          <a:lstStyle/>
          <a:p>
            <a:pPr indent="0" marL="0">
              <a:buNone/>
            </a:pPr>
            <a:r>
              <a:rPr lang="en-US" sz="1600" dirty="0">
                <a:solidFill>
                  <a:schemeClr val="tx1"/>
                </a:solidFill>
              </a:rPr>
              <a:t>Calculate totals, averages, growth and trends</a:t>
            </a:r>
            <a:endParaRPr lang="en-US" sz="1600" dirty="0"/>
          </a:p>
        </p:txBody>
      </p:sp>
      <p:sp>
        <p:nvSpPr>
          <p:cNvPr id="14" name="Step 4"/>
          <p:cNvSpPr txBox="1"/>
          <p:nvPr/>
        </p:nvSpPr>
        <p:spPr>
          <a:xfrm>
            <a:off x="6217920" y="1508760"/>
            <a:ext cx="16459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100" b="1" dirty="0">
                <a:solidFill>
                  <a:schemeClr val="accent3"/>
                </a:solidFill>
              </a:rPr>
              <a:t>STEP 4</a:t>
            </a:r>
            <a:endParaRPr lang="en-US" sz="1100" dirty="0"/>
          </a:p>
          <a:p>
            <a:pPr algn="ctr" indent="0" marL="0">
              <a:buNone/>
            </a:pPr>
            <a:r>
              <a:rPr lang="en-US" sz="1500" b="1" dirty="0">
                <a:solidFill>
                  <a:schemeClr val="bg1"/>
                </a:solidFill>
              </a:rPr>
              <a:t>AI Summary</a:t>
            </a:r>
            <a:endParaRPr lang="en-US" sz="1100" dirty="0"/>
          </a:p>
        </p:txBody>
      </p:sp>
      <p:sp>
        <p:nvSpPr>
          <p:cNvPr id="15" name="Shape 12"/>
          <p:cNvSpPr/>
          <p:nvPr/>
        </p:nvSpPr>
        <p:spPr>
          <a:xfrm>
            <a:off x="7863840" y="1965960"/>
            <a:ext cx="274320" cy="0"/>
          </a:xfrm>
          <a:prstGeom prst="line">
            <a:avLst/>
          </a:prstGeom>
          <a:noFill/>
          <a:ln w="25400">
            <a:solidFill>
              <a:schemeClr val="accent4"/>
            </a:solidFill>
            <a:prstDash val="solid"/>
            <a:tailEnd type="triangle"/>
          </a:ln>
        </p:spPr>
      </p:sp>
      <p:sp>
        <p:nvSpPr>
          <p:cNvPr id="16" name="Step 4 Text"/>
          <p:cNvSpPr txBox="1"/>
          <p:nvPr/>
        </p:nvSpPr>
        <p:spPr>
          <a:xfrm>
            <a:off x="6217920" y="2606040"/>
            <a:ext cx="1645920" cy="1554480"/>
          </a:xfrm>
          <a:prstGeom prst="rect">
            <a:avLst/>
          </a:prstGeom>
          <a:noFill/>
          <a:ln/>
        </p:spPr>
        <p:txBody>
          <a:bodyPr wrap="square" lIns="0" tIns="0" rIns="0" bIns="0" rtlCol="0" anchor="t"/>
          <a:lstStyle/>
          <a:p>
            <a:pPr indent="0" marL="0">
              <a:buNone/>
            </a:pPr>
            <a:r>
              <a:rPr lang="en-US" sz="1600" dirty="0">
                <a:solidFill>
                  <a:schemeClr val="tx1"/>
                </a:solidFill>
              </a:rPr>
              <a:t>LLM gets the key numbers and writes a short summary</a:t>
            </a:r>
            <a:endParaRPr lang="en-US" sz="1600" dirty="0"/>
          </a:p>
        </p:txBody>
      </p:sp>
      <p:sp>
        <p:nvSpPr>
          <p:cNvPr id="17" name="Step 5"/>
          <p:cNvSpPr txBox="1"/>
          <p:nvPr/>
        </p:nvSpPr>
        <p:spPr>
          <a:xfrm>
            <a:off x="8138160" y="1508760"/>
            <a:ext cx="16459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100" b="1" dirty="0">
                <a:solidFill>
                  <a:schemeClr val="accent3"/>
                </a:solidFill>
              </a:rPr>
              <a:t>STEP 5</a:t>
            </a:r>
            <a:endParaRPr lang="en-US" sz="1100" dirty="0"/>
          </a:p>
          <a:p>
            <a:pPr algn="ctr" indent="0" marL="0">
              <a:buNone/>
            </a:pPr>
            <a:r>
              <a:rPr lang="en-US" sz="1500" b="1" dirty="0">
                <a:solidFill>
                  <a:schemeClr val="bg1"/>
                </a:solidFill>
              </a:rPr>
              <a:t>Build Report</a:t>
            </a:r>
            <a:endParaRPr lang="en-US" sz="1100" dirty="0"/>
          </a:p>
        </p:txBody>
      </p:sp>
      <p:sp>
        <p:nvSpPr>
          <p:cNvPr id="18" name="Shape 15"/>
          <p:cNvSpPr/>
          <p:nvPr/>
        </p:nvSpPr>
        <p:spPr>
          <a:xfrm>
            <a:off x="9784080" y="1965960"/>
            <a:ext cx="274320" cy="0"/>
          </a:xfrm>
          <a:prstGeom prst="line">
            <a:avLst/>
          </a:prstGeom>
          <a:noFill/>
          <a:ln w="25400">
            <a:solidFill>
              <a:schemeClr val="accent4"/>
            </a:solidFill>
            <a:prstDash val="solid"/>
            <a:tailEnd type="triangle"/>
          </a:ln>
        </p:spPr>
      </p:sp>
      <p:sp>
        <p:nvSpPr>
          <p:cNvPr id="19" name="Step 5 Text"/>
          <p:cNvSpPr txBox="1"/>
          <p:nvPr/>
        </p:nvSpPr>
        <p:spPr>
          <a:xfrm>
            <a:off x="8138160" y="2606040"/>
            <a:ext cx="1645920" cy="1554480"/>
          </a:xfrm>
          <a:prstGeom prst="rect">
            <a:avLst/>
          </a:prstGeom>
          <a:noFill/>
          <a:ln/>
        </p:spPr>
        <p:txBody>
          <a:bodyPr wrap="square" lIns="0" tIns="0" rIns="0" bIns="0" rtlCol="0" anchor="t"/>
          <a:lstStyle/>
          <a:p>
            <a:pPr indent="0" marL="0">
              <a:buNone/>
            </a:pPr>
            <a:r>
              <a:rPr lang="en-US" sz="1600" dirty="0">
                <a:solidFill>
                  <a:schemeClr val="tx1"/>
                </a:solidFill>
              </a:rPr>
              <a:t>Tables, charts and summary are put in one layout</a:t>
            </a:r>
            <a:endParaRPr lang="en-US" sz="1600" dirty="0"/>
          </a:p>
        </p:txBody>
      </p:sp>
      <p:sp>
        <p:nvSpPr>
          <p:cNvPr id="20" name="Step 6"/>
          <p:cNvSpPr txBox="1"/>
          <p:nvPr/>
        </p:nvSpPr>
        <p:spPr>
          <a:xfrm>
            <a:off x="10058400" y="1508760"/>
            <a:ext cx="1645920" cy="914400"/>
          </a:xfrm>
          <a:prstGeom prst="roundRect">
            <a:avLst>
              <a:gd name="adj" fmla="val 8000"/>
            </a:avLst>
          </a:prstGeom>
          <a:solidFill>
            <a:schemeClr val="accent1"/>
          </a:solidFill>
          <a:ln/>
        </p:spPr>
        <p:txBody>
          <a:bodyPr wrap="square" lIns="50800" tIns="50800" rIns="50800" bIns="50800" rtlCol="0" anchor="ctr"/>
          <a:lstStyle/>
          <a:p>
            <a:pPr algn="ctr" indent="0" marL="0">
              <a:buNone/>
            </a:pPr>
            <a:r>
              <a:rPr lang="en-US" sz="1100" b="1" dirty="0">
                <a:solidFill>
                  <a:schemeClr val="accent3"/>
                </a:solidFill>
              </a:rPr>
              <a:t>STEP 6</a:t>
            </a:r>
            <a:endParaRPr lang="en-US" sz="1100" dirty="0"/>
          </a:p>
          <a:p>
            <a:pPr algn="ctr" indent="0" marL="0">
              <a:buNone/>
            </a:pPr>
            <a:r>
              <a:rPr lang="en-US" sz="1500" b="1" dirty="0">
                <a:solidFill>
                  <a:schemeClr val="bg1"/>
                </a:solidFill>
              </a:rPr>
              <a:t>Review &amp; Export</a:t>
            </a:r>
            <a:endParaRPr lang="en-US" sz="1100" dirty="0"/>
          </a:p>
        </p:txBody>
      </p:sp>
      <p:sp>
        <p:nvSpPr>
          <p:cNvPr id="21" name="Step 6 Text"/>
          <p:cNvSpPr txBox="1"/>
          <p:nvPr/>
        </p:nvSpPr>
        <p:spPr>
          <a:xfrm>
            <a:off x="10058400" y="2606040"/>
            <a:ext cx="1645920" cy="1554480"/>
          </a:xfrm>
          <a:prstGeom prst="rect">
            <a:avLst/>
          </a:prstGeom>
          <a:noFill/>
          <a:ln/>
        </p:spPr>
        <p:txBody>
          <a:bodyPr wrap="square" lIns="0" tIns="0" rIns="0" bIns="0" rtlCol="0" anchor="t"/>
          <a:lstStyle/>
          <a:p>
            <a:pPr indent="0" marL="0">
              <a:buNone/>
            </a:pPr>
            <a:r>
              <a:rPr lang="en-US" sz="1600" dirty="0">
                <a:solidFill>
                  <a:schemeClr val="tx1"/>
                </a:solidFill>
              </a:rPr>
              <a:t>User checks the report and downloads it as PDF</a:t>
            </a:r>
            <a:endParaRPr lang="en-US" sz="1600" dirty="0"/>
          </a:p>
        </p:txBody>
      </p:sp>
      <p:sp>
        <p:nvSpPr>
          <p:cNvPr id="22" name="Example Run"/>
          <p:cNvSpPr txBox="1"/>
          <p:nvPr/>
        </p:nvSpPr>
        <p:spPr>
          <a:xfrm>
            <a:off x="457200" y="4297680"/>
            <a:ext cx="6766560" cy="1783080"/>
          </a:xfrm>
          <a:prstGeom prst="roundRect">
            <a:avLst>
              <a:gd name="adj" fmla="val 4103"/>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Example run</a:t>
            </a:r>
            <a:endParaRPr lang="en-US" sz="2100" dirty="0"/>
          </a:p>
          <a:p>
            <a:pPr indent="0" marL="0">
              <a:buNone/>
            </a:pPr>
            <a:r>
              <a:rPr lang="en-US" sz="1800" dirty="0">
                <a:solidFill>
                  <a:schemeClr val="tx1"/>
                </a:solidFill>
              </a:rPr>
              <a:t>sales.csv uploaded → duplicate rows removed → totals by region calculated → AI writes “North region had the highest sales this week” → PDF report downloaded.</a:t>
            </a:r>
            <a:endParaRPr lang="en-US" sz="2100" dirty="0"/>
          </a:p>
        </p:txBody>
      </p:sp>
      <p:sp>
        <p:nvSpPr>
          <p:cNvPr id="23" name="Design Note"/>
          <p:cNvSpPr txBox="1"/>
          <p:nvPr/>
        </p:nvSpPr>
        <p:spPr>
          <a:xfrm>
            <a:off x="7498080" y="4297680"/>
            <a:ext cx="4206240" cy="1783080"/>
          </a:xfrm>
          <a:prstGeom prst="roundRect">
            <a:avLst>
              <a:gd name="adj" fmla="val 4103"/>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Design note</a:t>
            </a:r>
            <a:endParaRPr lang="en-US" sz="2100" dirty="0"/>
          </a:p>
          <a:p>
            <a:pPr indent="0" marL="0">
              <a:buNone/>
            </a:pPr>
            <a:r>
              <a:rPr lang="en-US" sz="1800" dirty="0">
                <a:solidFill>
                  <a:schemeClr val="tx1"/>
                </a:solidFill>
              </a:rPr>
              <a:t>Send only the key numbers to the LLM, not the whole file. The user always reviews the final text.</a:t>
            </a:r>
            <a:endParaRPr lang="en-US" sz="21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Key Features</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What the system offers to the user</a:t>
            </a:r>
            <a:endParaRPr lang="en-US" sz="1800" dirty="0"/>
          </a:p>
        </p:txBody>
      </p:sp>
      <p:sp>
        <p:nvSpPr>
          <p:cNvPr id="5" name="Feature 1"/>
          <p:cNvSpPr txBox="1"/>
          <p:nvPr/>
        </p:nvSpPr>
        <p:spPr>
          <a:xfrm>
            <a:off x="457200" y="1508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Automated Reporting</a:t>
            </a:r>
            <a:endParaRPr lang="en-US" sz="2100" dirty="0"/>
          </a:p>
          <a:p>
            <a:pPr indent="0" marL="0">
              <a:buNone/>
            </a:pPr>
            <a:r>
              <a:rPr lang="en-US" sz="1800" dirty="0">
                <a:solidFill>
                  <a:schemeClr val="tx1"/>
                </a:solidFill>
              </a:rPr>
              <a:t>Creates the report in one click whenever new data is uploaded.</a:t>
            </a:r>
            <a:endParaRPr lang="en-US" sz="2100" dirty="0"/>
          </a:p>
        </p:txBody>
      </p:sp>
      <p:sp>
        <p:nvSpPr>
          <p:cNvPr id="6" name="Feature 2"/>
          <p:cNvSpPr txBox="1"/>
          <p:nvPr/>
        </p:nvSpPr>
        <p:spPr>
          <a:xfrm>
            <a:off x="4274820" y="1508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Data Analysis</a:t>
            </a:r>
            <a:endParaRPr lang="en-US" sz="2100" dirty="0"/>
          </a:p>
          <a:p>
            <a:pPr indent="0" marL="0">
              <a:buNone/>
            </a:pPr>
            <a:r>
              <a:rPr lang="en-US" sz="1800" dirty="0">
                <a:solidFill>
                  <a:schemeClr val="tx1"/>
                </a:solidFill>
              </a:rPr>
              <a:t>Calculates totals, averages, growth % and top or bottom items.</a:t>
            </a:r>
            <a:endParaRPr lang="en-US" sz="2100" dirty="0"/>
          </a:p>
        </p:txBody>
      </p:sp>
      <p:sp>
        <p:nvSpPr>
          <p:cNvPr id="7" name="Feature 3"/>
          <p:cNvSpPr txBox="1"/>
          <p:nvPr/>
        </p:nvSpPr>
        <p:spPr>
          <a:xfrm>
            <a:off x="8092440" y="1508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AI Summaries</a:t>
            </a:r>
            <a:endParaRPr lang="en-US" sz="2100" dirty="0"/>
          </a:p>
          <a:p>
            <a:pPr indent="0" marL="0">
              <a:buNone/>
            </a:pPr>
            <a:r>
              <a:rPr lang="en-US" sz="1800" dirty="0">
                <a:solidFill>
                  <a:schemeClr val="tx1"/>
                </a:solidFill>
              </a:rPr>
              <a:t>Writes a short plain-English summary of the main findings.</a:t>
            </a:r>
            <a:endParaRPr lang="en-US" sz="2100" dirty="0"/>
          </a:p>
        </p:txBody>
      </p:sp>
      <p:sp>
        <p:nvSpPr>
          <p:cNvPr id="8" name="Feature 4"/>
          <p:cNvSpPr txBox="1"/>
          <p:nvPr/>
        </p:nvSpPr>
        <p:spPr>
          <a:xfrm>
            <a:off x="457200" y="3794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Visualizations</a:t>
            </a:r>
            <a:endParaRPr lang="en-US" sz="2100" dirty="0"/>
          </a:p>
          <a:p>
            <a:pPr indent="0" marL="0">
              <a:buNone/>
            </a:pPr>
            <a:r>
              <a:rPr lang="en-US" sz="1800" dirty="0">
                <a:solidFill>
                  <a:schemeClr val="tx1"/>
                </a:solidFill>
              </a:rPr>
              <a:t>Bar, line and pie charts made from the cleaned data.</a:t>
            </a:r>
            <a:endParaRPr lang="en-US" sz="2100" dirty="0"/>
          </a:p>
        </p:txBody>
      </p:sp>
      <p:sp>
        <p:nvSpPr>
          <p:cNvPr id="9" name="Feature 5"/>
          <p:cNvSpPr txBox="1"/>
          <p:nvPr/>
        </p:nvSpPr>
        <p:spPr>
          <a:xfrm>
            <a:off x="4274820" y="3794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Data Cleaning</a:t>
            </a:r>
            <a:endParaRPr lang="en-US" sz="2100" dirty="0"/>
          </a:p>
          <a:p>
            <a:pPr indent="0" marL="0">
              <a:buNone/>
            </a:pPr>
            <a:r>
              <a:rPr lang="en-US" sz="1800" dirty="0">
                <a:solidFill>
                  <a:schemeClr val="tx1"/>
                </a:solidFill>
              </a:rPr>
              <a:t>Removes duplicates, fixes date formats and fills missing values.</a:t>
            </a:r>
            <a:endParaRPr lang="en-US" sz="2100" dirty="0"/>
          </a:p>
        </p:txBody>
      </p:sp>
      <p:sp>
        <p:nvSpPr>
          <p:cNvPr id="10" name="Feature 6"/>
          <p:cNvSpPr txBox="1"/>
          <p:nvPr/>
        </p:nvSpPr>
        <p:spPr>
          <a:xfrm>
            <a:off x="8092440" y="3794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Export Options</a:t>
            </a:r>
            <a:endParaRPr lang="en-US" sz="2100" dirty="0"/>
          </a:p>
          <a:p>
            <a:pPr indent="0" marL="0">
              <a:buNone/>
            </a:pPr>
            <a:r>
              <a:rPr lang="en-US" sz="1800" dirty="0">
                <a:solidFill>
                  <a:schemeClr val="tx1"/>
                </a:solidFill>
              </a:rPr>
              <a:t>Download the report as PDF or Excel to share with others.</a:t>
            </a:r>
            <a:endParaRPr lang="en-US" sz="21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Technologies Used</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Tools suggested for the project</a:t>
            </a:r>
            <a:endParaRPr lang="en-US" sz="1800" dirty="0"/>
          </a:p>
        </p:txBody>
      </p:sp>
      <p:graphicFrame>
        <p:nvGraphicFramePr>
          <p:cNvPr id="12" name="Technology Table"/>
          <p:cNvGraphicFramePr>
            <a:graphicFrameLocks noGrp="1"/>
          </p:cNvGraphicFramePr>
          <p:nvPr>
            <p:extLst>
              <p:ext uri="{D42A27DB-BD31-4B8C-83A1-F6EECF244321}">
                <p14:modId xmlns:p14="http://schemas.microsoft.com/office/powerpoint/2010/main" val="1579011935"/>
              </p:ext>
            </p:extLst>
          </p:nvPr>
        </p:nvGraphicFramePr>
        <p:xfrm>
          <a:off x="457200" y="1508760"/>
          <a:ext cx="11247120" cy="914400"/>
        </p:xfrm>
        <a:graphic>
          <a:graphicData uri="http://schemas.openxmlformats.org/drawingml/2006/table">
            <a:tbl>
              <a:tblPr/>
              <a:tblGrid>
                <a:gridCol w="2103120"/>
                <a:gridCol w="4297680"/>
                <a:gridCol w="4846320"/>
              </a:tblGrid>
              <a:tr h="530352">
                <a:tc>
                  <a:txBody>
                    <a:bodyPr/>
                    <a:lstStyle/>
                    <a:p>
                      <a:pPr indent="0" marL="0">
                        <a:buNone/>
                      </a:pPr>
                      <a:r>
                        <a:rPr lang="en-US" sz="1600" b="1" dirty="0">
                          <a:solidFill>
                            <a:srgbClr val="FFFFFF"/>
                          </a:solidFill>
                        </a:rPr>
                        <a:t>Category</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14325C"/>
                    </a:solidFill>
                  </a:tcPr>
                </a:tc>
                <a:tc>
                  <a:txBody>
                    <a:bodyPr/>
                    <a:lstStyle/>
                    <a:p>
                      <a:pPr indent="0" marL="0">
                        <a:buNone/>
                      </a:pPr>
                      <a:r>
                        <a:rPr lang="en-US" sz="1600" b="1" dirty="0">
                          <a:solidFill>
                            <a:srgbClr val="FFFFFF"/>
                          </a:solidFill>
                        </a:rPr>
                        <a:t>Technology</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14325C"/>
                    </a:solidFill>
                  </a:tcPr>
                </a:tc>
                <a:tc>
                  <a:txBody>
                    <a:bodyPr/>
                    <a:lstStyle/>
                    <a:p>
                      <a:pPr indent="0" marL="0">
                        <a:buNone/>
                      </a:pPr>
                      <a:r>
                        <a:rPr lang="en-US" sz="1600" b="1" dirty="0">
                          <a:solidFill>
                            <a:srgbClr val="FFFFFF"/>
                          </a:solidFill>
                        </a:rPr>
                        <a:t>Why we use it</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14325C"/>
                    </a:solidFill>
                  </a:tcPr>
                </a:tc>
              </a:tr>
              <a:tr h="530352">
                <a:tc>
                  <a:txBody>
                    <a:bodyPr/>
                    <a:lstStyle/>
                    <a:p>
                      <a:pPr indent="0" marL="0">
                        <a:buNone/>
                      </a:pPr>
                      <a:r>
                        <a:rPr lang="en-US" sz="1600" b="1" dirty="0">
                          <a:solidFill>
                            <a:srgbClr val="1F2933"/>
                          </a:solidFill>
                        </a:rPr>
                        <a:t>Language</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600" dirty="0">
                          <a:solidFill>
                            <a:srgbClr val="1F2933"/>
                          </a:solidFill>
                        </a:rPr>
                        <a:t>Python 3</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Easy to learn, many data libraries</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933"/>
                          </a:solidFill>
                        </a:rPr>
                        <a:t>Data handling</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600" dirty="0">
                          <a:solidFill>
                            <a:srgbClr val="1F2933"/>
                          </a:solidFill>
                        </a:rPr>
                        <a:t>Pandas, NumPy</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Cleaning, grouping and calculations</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933"/>
                          </a:solidFill>
                        </a:rPr>
                        <a:t>Database</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600" dirty="0">
                          <a:solidFill>
                            <a:srgbClr val="1F2933"/>
                          </a:solidFill>
                        </a:rPr>
                        <a:t>SQL (SQLite / MySQL)</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Store and query data using SQL</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933"/>
                          </a:solidFill>
                        </a:rPr>
                        <a:t>AI / LLM</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600" dirty="0">
                          <a:solidFill>
                            <a:srgbClr val="1F2933"/>
                          </a:solidFill>
                        </a:rPr>
                        <a:t>LLM API (e.g. OpenAI, Anthropic Claude)</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Writes the text summary</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933"/>
                          </a:solidFill>
                        </a:rPr>
                        <a:t>Charts</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600" dirty="0">
                          <a:solidFill>
                            <a:srgbClr val="1F2933"/>
                          </a:solidFill>
                        </a:rPr>
                        <a:t>Matplotlib / Plotly</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Bar, line and pie charts</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933"/>
                          </a:solidFill>
                        </a:rPr>
                        <a:t>Web dashboard</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600" dirty="0">
                          <a:solidFill>
                            <a:srgbClr val="1F2933"/>
                          </a:solidFill>
                        </a:rPr>
                        <a:t>Streamlit</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Builds the interface with only Python</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530352">
                <a:tc>
                  <a:txBody>
                    <a:bodyPr/>
                    <a:lstStyle/>
                    <a:p>
                      <a:pPr indent="0" marL="0">
                        <a:buNone/>
                      </a:pPr>
                      <a:r>
                        <a:rPr lang="en-US" sz="1600" b="1" dirty="0">
                          <a:solidFill>
                            <a:srgbClr val="1F2933"/>
                          </a:solidFill>
                        </a:rPr>
                        <a:t>Export</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600" dirty="0">
                          <a:solidFill>
                            <a:srgbClr val="1F2933"/>
                          </a:solidFill>
                        </a:rPr>
                        <a:t>ReportLab (PDF), openpyxl (Excel)</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rPr>
                        <a:t>Download reports as files</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457200" y="5760720"/>
            <a:ext cx="11247120" cy="365760"/>
          </a:xfrm>
          <a:prstGeom prst="rect">
            <a:avLst/>
          </a:prstGeom>
          <a:noFill/>
          <a:ln/>
        </p:spPr>
        <p:txBody>
          <a:bodyPr wrap="square" lIns="0" tIns="0" rIns="0" bIns="0" rtlCol="0" anchor="ctr"/>
          <a:lstStyle/>
          <a:p>
            <a:pPr indent="0" marL="0">
              <a:buNone/>
            </a:pPr>
            <a:r>
              <a:rPr lang="en-US" sz="1400" i="1" dirty="0">
                <a:solidFill>
                  <a:schemeClr val="accent4"/>
                </a:solidFill>
              </a:rPr>
              <a:t>Note: these are proposed tools. The final choice can change during implementation.</a:t>
            </a:r>
            <a:endParaRPr lang="en-US" sz="1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Data Processing and Analysis</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From raw data to useful numbers</a:t>
            </a:r>
            <a:endParaRPr lang="en-US" sz="1800" dirty="0"/>
          </a:p>
        </p:txBody>
      </p:sp>
      <p:sp>
        <p:nvSpPr>
          <p:cNvPr id="5" name="Text 2"/>
          <p:cNvSpPr txBox="1"/>
          <p:nvPr/>
        </p:nvSpPr>
        <p:spPr>
          <a:xfrm>
            <a:off x="457200" y="1508760"/>
            <a:ext cx="5212080" cy="28346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1900" b="1" dirty="0">
                <a:solidFill>
                  <a:schemeClr val="tx2"/>
                </a:solidFill>
              </a:rPr>
              <a:t>Load</a:t>
            </a:r>
            <a:pPr algn="l" marL="342900" indent="-342900">
              <a:spcAft>
                <a:spcPts val="800"/>
              </a:spcAft>
              <a:buSzPct val="100000"/>
              <a:buFont typeface="+mj-lt"/>
              <a:buAutoNum type="arabicPeriod" startAt="1"/>
            </a:pPr>
            <a:r>
              <a:rPr lang="en-US" sz="1900" dirty="0">
                <a:solidFill>
                  <a:schemeClr val="tx1"/>
                </a:solidFill>
              </a:rPr>
              <a:t> the file into a Pandas DataFrame</a:t>
            </a:r>
            <a:endParaRPr lang="en-US" sz="1900" dirty="0"/>
          </a:p>
          <a:p>
            <a:pPr algn="l" marL="342900" indent="-342900">
              <a:spcAft>
                <a:spcPts val="800"/>
              </a:spcAft>
              <a:buSzPct val="100000"/>
              <a:buFont typeface="+mj-lt"/>
              <a:buAutoNum type="arabicPeriod" startAt="1"/>
            </a:pPr>
            <a:r>
              <a:rPr lang="en-US" sz="1900" b="1" dirty="0">
                <a:solidFill>
                  <a:schemeClr val="tx2"/>
                </a:solidFill>
              </a:rPr>
              <a:t>Clean:</a:t>
            </a:r>
            <a:pPr algn="l" marL="342900" indent="-342900">
              <a:spcAft>
                <a:spcPts val="800"/>
              </a:spcAft>
              <a:buSzPct val="100000"/>
              <a:buFont typeface="+mj-lt"/>
              <a:buAutoNum type="arabicPeriod" startAt="1"/>
            </a:pPr>
            <a:r>
              <a:rPr lang="en-US" sz="1900" dirty="0">
                <a:solidFill>
                  <a:schemeClr val="tx1"/>
                </a:solidFill>
              </a:rPr>
              <a:t> remove duplicates, fix dates, trim text</a:t>
            </a:r>
            <a:endParaRPr lang="en-US" sz="1900" dirty="0"/>
          </a:p>
          <a:p>
            <a:pPr algn="l" marL="342900" indent="-342900">
              <a:spcAft>
                <a:spcPts val="800"/>
              </a:spcAft>
              <a:buSzPct val="100000"/>
              <a:buFont typeface="+mj-lt"/>
              <a:buAutoNum type="arabicPeriod" startAt="1"/>
            </a:pPr>
            <a:r>
              <a:rPr lang="en-US" sz="1900" b="1" dirty="0">
                <a:solidFill>
                  <a:schemeClr val="tx2"/>
                </a:solidFill>
              </a:rPr>
              <a:t>Missing values:</a:t>
            </a:r>
            <a:pPr algn="l" marL="342900" indent="-342900">
              <a:spcAft>
                <a:spcPts val="800"/>
              </a:spcAft>
              <a:buSzPct val="100000"/>
              <a:buFont typeface="+mj-lt"/>
              <a:buAutoNum type="arabicPeriod" startAt="1"/>
            </a:pPr>
            <a:r>
              <a:rPr lang="en-US" sz="1900" dirty="0">
                <a:solidFill>
                  <a:schemeClr val="tx1"/>
                </a:solidFill>
              </a:rPr>
              <a:t> fill with average or drop the row</a:t>
            </a:r>
            <a:endParaRPr lang="en-US" sz="1900" dirty="0"/>
          </a:p>
          <a:p>
            <a:pPr algn="l" marL="342900" indent="-342900">
              <a:spcAft>
                <a:spcPts val="800"/>
              </a:spcAft>
              <a:buSzPct val="100000"/>
              <a:buFont typeface="+mj-lt"/>
              <a:buAutoNum type="arabicPeriod" startAt="1"/>
            </a:pPr>
            <a:r>
              <a:rPr lang="en-US" sz="1900" b="1" dirty="0">
                <a:solidFill>
                  <a:schemeClr val="tx2"/>
                </a:solidFill>
              </a:rPr>
              <a:t>Group</a:t>
            </a:r>
            <a:pPr algn="l" marL="342900" indent="-342900">
              <a:spcAft>
                <a:spcPts val="800"/>
              </a:spcAft>
              <a:buSzPct val="100000"/>
              <a:buFont typeface="+mj-lt"/>
              <a:buAutoNum type="arabicPeriod" startAt="1"/>
            </a:pPr>
            <a:r>
              <a:rPr lang="en-US" sz="1900" dirty="0">
                <a:solidFill>
                  <a:schemeClr val="tx1"/>
                </a:solidFill>
              </a:rPr>
              <a:t> data by month, region or product</a:t>
            </a:r>
            <a:endParaRPr lang="en-US" sz="1900" dirty="0"/>
          </a:p>
          <a:p>
            <a:pPr algn="l" marL="342900" indent="-342900">
              <a:spcAft>
                <a:spcPts val="800"/>
              </a:spcAft>
              <a:buSzPct val="100000"/>
              <a:buFont typeface="+mj-lt"/>
              <a:buAutoNum type="arabicPeriod" startAt="1"/>
            </a:pPr>
            <a:r>
              <a:rPr lang="en-US" sz="1900" b="1" dirty="0">
                <a:solidFill>
                  <a:schemeClr val="tx2"/>
                </a:solidFill>
              </a:rPr>
              <a:t>Analyze:</a:t>
            </a:r>
            <a:pPr algn="l" marL="342900" indent="-342900">
              <a:spcAft>
                <a:spcPts val="800"/>
              </a:spcAft>
              <a:buSzPct val="100000"/>
              <a:buFont typeface="+mj-lt"/>
              <a:buAutoNum type="arabicPeriod" startAt="1"/>
            </a:pPr>
            <a:r>
              <a:rPr lang="en-US" sz="1900" dirty="0">
                <a:solidFill>
                  <a:schemeClr val="tx1"/>
                </a:solidFill>
              </a:rPr>
              <a:t> totals, averages, growth %, highest and lowest</a:t>
            </a:r>
            <a:endParaRPr lang="en-US" sz="1900" dirty="0"/>
          </a:p>
        </p:txBody>
      </p:sp>
      <p:sp>
        <p:nvSpPr>
          <p:cNvPr id="6" name="Text 3"/>
          <p:cNvSpPr txBox="1"/>
          <p:nvPr/>
        </p:nvSpPr>
        <p:spPr>
          <a:xfrm>
            <a:off x="457200" y="4434840"/>
            <a:ext cx="5212080" cy="274320"/>
          </a:xfrm>
          <a:prstGeom prst="rect">
            <a:avLst/>
          </a:prstGeom>
          <a:noFill/>
          <a:ln/>
        </p:spPr>
        <p:txBody>
          <a:bodyPr wrap="square" lIns="0" tIns="0" rIns="0" bIns="0" rtlCol="0" anchor="ctr"/>
          <a:lstStyle/>
          <a:p>
            <a:pPr indent="0" marL="0">
              <a:buNone/>
            </a:pPr>
            <a:r>
              <a:rPr lang="en-US" sz="1300" b="1" dirty="0">
                <a:solidFill>
                  <a:schemeClr val="accent4"/>
                </a:solidFill>
              </a:rPr>
              <a:t>Example code (illustration)</a:t>
            </a:r>
            <a:endParaRPr lang="en-US" sz="1300" dirty="0"/>
          </a:p>
        </p:txBody>
      </p:sp>
      <p:sp>
        <p:nvSpPr>
          <p:cNvPr id="7" name="Code Box"/>
          <p:cNvSpPr txBox="1"/>
          <p:nvPr/>
        </p:nvSpPr>
        <p:spPr>
          <a:xfrm>
            <a:off x="457200" y="4754880"/>
            <a:ext cx="5212080" cy="1097280"/>
          </a:xfrm>
          <a:prstGeom prst="rect">
            <a:avLst/>
          </a:prstGeom>
          <a:solidFill>
            <a:srgbClr val="F4F6F9"/>
          </a:solidFill>
          <a:ln w="9525">
            <a:solidFill>
              <a:srgbClr val="C9D8EC"/>
            </a:solidFill>
          </a:ln>
        </p:spPr>
        <p:txBody>
          <a:bodyPr wrap="square" lIns="152400" tIns="152400" rIns="152400" bIns="15240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df = pd.read_csv("sales.csv")</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df = df.drop_duplicates()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df.groupby("Region")["Sales"].sum()</a:t>
            </a:r>
            <a:endParaRPr lang="en-US" sz="1300" dirty="0"/>
          </a:p>
        </p:txBody>
      </p:sp>
      <p:sp>
        <p:nvSpPr>
          <p:cNvPr id="8" name="Text 5"/>
          <p:cNvSpPr txBox="1"/>
          <p:nvPr/>
        </p:nvSpPr>
        <p:spPr>
          <a:xfrm>
            <a:off x="6035040" y="1508760"/>
            <a:ext cx="5669280" cy="320040"/>
          </a:xfrm>
          <a:prstGeom prst="rect">
            <a:avLst/>
          </a:prstGeom>
          <a:noFill/>
          <a:ln/>
        </p:spPr>
        <p:txBody>
          <a:bodyPr wrap="square" lIns="0" tIns="0" rIns="0" bIns="0" rtlCol="0" anchor="ctr"/>
          <a:lstStyle/>
          <a:p>
            <a:pPr indent="0" marL="0">
              <a:buNone/>
            </a:pPr>
            <a:r>
              <a:rPr lang="en-US" sz="1500" b="1" dirty="0">
                <a:solidFill>
                  <a:schemeClr val="tx2"/>
                </a:solidFill>
              </a:rPr>
              <a:t>Raw data (messy)</a:t>
            </a:r>
            <a:endParaRPr lang="en-US" sz="1500" dirty="0"/>
          </a:p>
        </p:txBody>
      </p:sp>
      <p:graphicFrame>
        <p:nvGraphicFramePr>
          <p:cNvPr id="13" name="Raw Table"/>
          <p:cNvGraphicFramePr>
            <a:graphicFrameLocks noGrp="1"/>
          </p:cNvGraphicFramePr>
          <p:nvPr>
            <p:extLst>
              <p:ext uri="{D42A27DB-BD31-4B8C-83A1-F6EECF244321}">
                <p14:modId xmlns:p14="http://schemas.microsoft.com/office/powerpoint/2010/main" val="1579011935"/>
              </p:ext>
            </p:extLst>
          </p:nvPr>
        </p:nvGraphicFramePr>
        <p:xfrm>
          <a:off x="6035040" y="1874520"/>
          <a:ext cx="5669280" cy="914400"/>
        </p:xfrm>
        <a:graphic>
          <a:graphicData uri="http://schemas.openxmlformats.org/drawingml/2006/table">
            <a:tbl>
              <a:tblPr/>
              <a:tblGrid>
                <a:gridCol w="2011680"/>
                <a:gridCol w="1645920"/>
                <a:gridCol w="2011680"/>
              </a:tblGrid>
              <a:tr h="365760">
                <a:tc>
                  <a:txBody>
                    <a:bodyPr/>
                    <a:lstStyle/>
                    <a:p>
                      <a:pPr indent="0" marL="0">
                        <a:buNone/>
                      </a:pPr>
                      <a:r>
                        <a:rPr lang="en-US" sz="1400" b="1" dirty="0">
                          <a:solidFill>
                            <a:srgbClr val="FFFFFF"/>
                          </a:solidFill>
                        </a:rPr>
                        <a:t>Date</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5B6B7F"/>
                    </a:solidFill>
                  </a:tcPr>
                </a:tc>
                <a:tc>
                  <a:txBody>
                    <a:bodyPr/>
                    <a:lstStyle/>
                    <a:p>
                      <a:pPr indent="0" marL="0">
                        <a:buNone/>
                      </a:pPr>
                      <a:r>
                        <a:rPr lang="en-US" sz="1400" b="1" dirty="0">
                          <a:solidFill>
                            <a:srgbClr val="FFFFFF"/>
                          </a:solidFill>
                        </a:rPr>
                        <a:t>Region</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5B6B7F"/>
                    </a:solidFill>
                  </a:tcPr>
                </a:tc>
                <a:tc>
                  <a:txBody>
                    <a:bodyPr/>
                    <a:lstStyle/>
                    <a:p>
                      <a:pPr indent="0" marL="0">
                        <a:buNone/>
                      </a:pPr>
                      <a:r>
                        <a:rPr lang="en-US" sz="1400" b="1" dirty="0">
                          <a:solidFill>
                            <a:srgbClr val="FFFFFF"/>
                          </a:solidFill>
                        </a:rPr>
                        <a:t>Sales</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5B6B7F"/>
                    </a:solidFill>
                  </a:tcPr>
                </a:tc>
              </a:tr>
              <a:tr h="365760">
                <a:tc>
                  <a:txBody>
                    <a:bodyPr/>
                    <a:lstStyle/>
                    <a:p>
                      <a:pPr indent="0" marL="0">
                        <a:buNone/>
                      </a:pPr>
                      <a:r>
                        <a:rPr lang="en-US" sz="1400" dirty="0">
                          <a:solidFill>
                            <a:srgbClr val="1F2933"/>
                          </a:solidFill>
                        </a:rPr>
                        <a:t>01/03/2024</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north </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1200</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rPr>
                        <a:t>2-Mar-24</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North</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(blank)</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rPr>
                        <a:t>03/03/2024</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NORTH</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1,350</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rPr>
                        <a:t>03/03/2024</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NORTH</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1,350</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6035040" y="3931920"/>
            <a:ext cx="5669280" cy="320040"/>
          </a:xfrm>
          <a:prstGeom prst="rect">
            <a:avLst/>
          </a:prstGeom>
          <a:noFill/>
          <a:ln/>
        </p:spPr>
        <p:txBody>
          <a:bodyPr wrap="square" lIns="0" tIns="0" rIns="0" bIns="0" rtlCol="0" anchor="ctr"/>
          <a:lstStyle/>
          <a:p>
            <a:pPr indent="0" marL="0">
              <a:buNone/>
            </a:pPr>
            <a:r>
              <a:rPr lang="en-US" sz="1500" b="1" dirty="0">
                <a:solidFill>
                  <a:schemeClr val="tx2"/>
                </a:solidFill>
              </a:rPr>
              <a:t>After cleaning</a:t>
            </a:r>
            <a:endParaRPr lang="en-US" sz="1500" dirty="0"/>
          </a:p>
        </p:txBody>
      </p:sp>
      <p:graphicFrame>
        <p:nvGraphicFramePr>
          <p:cNvPr id="25" name="Clean Table"/>
          <p:cNvGraphicFramePr>
            <a:graphicFrameLocks noGrp="1"/>
          </p:cNvGraphicFramePr>
          <p:nvPr>
            <p:extLst>
              <p:ext uri="{D42A27DB-BD31-4B8C-83A1-F6EECF244321}">
                <p14:modId xmlns:p14="http://schemas.microsoft.com/office/powerpoint/2010/main" val="1579011935"/>
              </p:ext>
            </p:extLst>
          </p:nvPr>
        </p:nvGraphicFramePr>
        <p:xfrm>
          <a:off x="6035040" y="4297680"/>
          <a:ext cx="5669280" cy="914400"/>
        </p:xfrm>
        <a:graphic>
          <a:graphicData uri="http://schemas.openxmlformats.org/drawingml/2006/table">
            <a:tbl>
              <a:tblPr/>
              <a:tblGrid>
                <a:gridCol w="2011680"/>
                <a:gridCol w="1645920"/>
                <a:gridCol w="2011680"/>
              </a:tblGrid>
              <a:tr h="365760">
                <a:tc>
                  <a:txBody>
                    <a:bodyPr/>
                    <a:lstStyle/>
                    <a:p>
                      <a:pPr indent="0" marL="0">
                        <a:buNone/>
                      </a:pPr>
                      <a:r>
                        <a:rPr lang="en-US" sz="1400" b="1" dirty="0">
                          <a:solidFill>
                            <a:srgbClr val="FFFFFF"/>
                          </a:solidFill>
                        </a:rPr>
                        <a:t>Date</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2E6DB4"/>
                    </a:solidFill>
                  </a:tcPr>
                </a:tc>
                <a:tc>
                  <a:txBody>
                    <a:bodyPr/>
                    <a:lstStyle/>
                    <a:p>
                      <a:pPr indent="0" marL="0">
                        <a:buNone/>
                      </a:pPr>
                      <a:r>
                        <a:rPr lang="en-US" sz="1400" b="1" dirty="0">
                          <a:solidFill>
                            <a:srgbClr val="FFFFFF"/>
                          </a:solidFill>
                        </a:rPr>
                        <a:t>Region</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2E6DB4"/>
                    </a:solidFill>
                  </a:tcPr>
                </a:tc>
                <a:tc>
                  <a:txBody>
                    <a:bodyPr/>
                    <a:lstStyle/>
                    <a:p>
                      <a:pPr indent="0" marL="0">
                        <a:buNone/>
                      </a:pPr>
                      <a:r>
                        <a:rPr lang="en-US" sz="1400" b="1" dirty="0">
                          <a:solidFill>
                            <a:srgbClr val="FFFFFF"/>
                          </a:solidFill>
                        </a:rPr>
                        <a:t>Sales</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2E6DB4"/>
                    </a:solidFill>
                  </a:tcPr>
                </a:tc>
              </a:tr>
              <a:tr h="365760">
                <a:tc>
                  <a:txBody>
                    <a:bodyPr/>
                    <a:lstStyle/>
                    <a:p>
                      <a:pPr indent="0" marL="0">
                        <a:buNone/>
                      </a:pPr>
                      <a:r>
                        <a:rPr lang="en-US" sz="1400" dirty="0">
                          <a:solidFill>
                            <a:srgbClr val="1F2933"/>
                          </a:solidFill>
                        </a:rPr>
                        <a:t>2024-03-01</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North</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1200</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rPr>
                        <a:t>2024-03-02</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North</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1275</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365760">
                <a:tc>
                  <a:txBody>
                    <a:bodyPr/>
                    <a:lstStyle/>
                    <a:p>
                      <a:pPr indent="0" marL="0">
                        <a:buNone/>
                      </a:pPr>
                      <a:r>
                        <a:rPr lang="en-US" sz="1400" dirty="0">
                          <a:solidFill>
                            <a:srgbClr val="1F2933"/>
                          </a:solidFill>
                        </a:rPr>
                        <a:t>2024-03-03</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North</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rPr>
                        <a:t>1350</a:t>
                      </a:r>
                      <a:endParaRPr lang="en-US" sz="1400" dirty="0"/>
                    </a:p>
                  </a:txBody>
                  <a:tcPr marL="101600" marR="101600" marT="38100" marB="381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bl>
          </a:graphicData>
        </a:graphic>
      </p:graphicFrame>
      <p:sp>
        <p:nvSpPr>
          <p:cNvPr id="12" name="Text 7"/>
          <p:cNvSpPr txBox="1"/>
          <p:nvPr/>
        </p:nvSpPr>
        <p:spPr>
          <a:xfrm>
            <a:off x="6035040" y="5852160"/>
            <a:ext cx="5669280" cy="457200"/>
          </a:xfrm>
          <a:prstGeom prst="rect">
            <a:avLst/>
          </a:prstGeom>
          <a:noFill/>
          <a:ln/>
        </p:spPr>
        <p:txBody>
          <a:bodyPr wrap="square" lIns="0" tIns="0" rIns="0" bIns="0" rtlCol="0" anchor="t"/>
          <a:lstStyle/>
          <a:p>
            <a:pPr indent="0" marL="0">
              <a:buNone/>
            </a:pPr>
            <a:r>
              <a:rPr lang="en-US" sz="1300" i="1" dirty="0">
                <a:solidFill>
                  <a:schemeClr val="accent4"/>
                </a:solidFill>
              </a:rPr>
              <a:t>Duplicate removed, dates standardized, blank filled with the average of its neighbours (example only).</a:t>
            </a:r>
            <a:endParaRPr lang="en-US" sz="13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Report Generation and Dashboard</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Sample layout of the report (dummy data used for illustration)</a:t>
            </a:r>
            <a:endParaRPr lang="en-US" sz="1800" dirty="0"/>
          </a:p>
        </p:txBody>
      </p:sp>
      <p:sp>
        <p:nvSpPr>
          <p:cNvPr id="5" name="Dashboard Frame"/>
          <p:cNvSpPr/>
          <p:nvPr/>
        </p:nvSpPr>
        <p:spPr>
          <a:xfrm>
            <a:off x="457200" y="1417320"/>
            <a:ext cx="11274552" cy="4846320"/>
          </a:xfrm>
          <a:prstGeom prst="rect">
            <a:avLst/>
          </a:prstGeom>
          <a:solidFill>
            <a:srgbClr val="FFFFFF"/>
          </a:solidFill>
          <a:ln w="15875">
            <a:solidFill>
              <a:srgbClr val="C9D8EC"/>
            </a:solidFill>
            <a:prstDash val="solid"/>
          </a:ln>
        </p:spPr>
      </p:sp>
      <p:sp>
        <p:nvSpPr>
          <p:cNvPr id="6" name="Text 3"/>
          <p:cNvSpPr txBox="1"/>
          <p:nvPr/>
        </p:nvSpPr>
        <p:spPr>
          <a:xfrm>
            <a:off x="640080" y="1481328"/>
            <a:ext cx="6400800" cy="365760"/>
          </a:xfrm>
          <a:prstGeom prst="rect">
            <a:avLst/>
          </a:prstGeom>
          <a:noFill/>
          <a:ln/>
        </p:spPr>
        <p:txBody>
          <a:bodyPr wrap="square" lIns="0" tIns="0" rIns="0" bIns="0" rtlCol="0" anchor="ctr"/>
          <a:lstStyle/>
          <a:p>
            <a:pPr indent="0" marL="0">
              <a:buNone/>
            </a:pPr>
            <a:r>
              <a:rPr lang="en-US" sz="1600" b="1" dirty="0">
                <a:solidFill>
                  <a:schemeClr val="tx2"/>
                </a:solidFill>
              </a:rPr>
              <a:t>Monthly Sales Report: Jan to Jun</a:t>
            </a:r>
            <a:endParaRPr lang="en-US" sz="1600" dirty="0"/>
          </a:p>
        </p:txBody>
      </p:sp>
      <p:sp>
        <p:nvSpPr>
          <p:cNvPr id="7" name="Text 4"/>
          <p:cNvSpPr txBox="1"/>
          <p:nvPr/>
        </p:nvSpPr>
        <p:spPr>
          <a:xfrm>
            <a:off x="7315200" y="1481328"/>
            <a:ext cx="4233672" cy="365760"/>
          </a:xfrm>
          <a:prstGeom prst="rect">
            <a:avLst/>
          </a:prstGeom>
          <a:noFill/>
          <a:ln/>
        </p:spPr>
        <p:txBody>
          <a:bodyPr wrap="square" lIns="0" tIns="0" rIns="0" bIns="0" rtlCol="0" anchor="ctr"/>
          <a:lstStyle/>
          <a:p>
            <a:pPr algn="r" indent="0" marL="0">
              <a:buNone/>
            </a:pPr>
            <a:r>
              <a:rPr lang="en-US" sz="1200" dirty="0">
                <a:solidFill>
                  <a:schemeClr val="accent4"/>
                </a:solidFill>
              </a:rPr>
              <a:t>Generated by AI Reporting System</a:t>
            </a:r>
            <a:endParaRPr lang="en-US" sz="1200" dirty="0"/>
          </a:p>
        </p:txBody>
      </p:sp>
      <p:sp>
        <p:nvSpPr>
          <p:cNvPr id="8" name="KPI 1"/>
          <p:cNvSpPr txBox="1"/>
          <p:nvPr/>
        </p:nvSpPr>
        <p:spPr>
          <a:xfrm>
            <a:off x="640080" y="1920240"/>
            <a:ext cx="2560320" cy="777240"/>
          </a:xfrm>
          <a:prstGeom prst="roundRect">
            <a:avLst>
              <a:gd name="adj" fmla="val 7059"/>
            </a:avLst>
          </a:prstGeom>
          <a:solidFill>
            <a:schemeClr val="bg2"/>
          </a:solidFill>
          <a:ln w="9525">
            <a:solidFill>
              <a:srgbClr val="C9D8EC"/>
            </a:solidFill>
          </a:ln>
        </p:spPr>
        <p:txBody>
          <a:bodyPr wrap="square" lIns="50800" tIns="50800" rIns="50800" bIns="50800" rtlCol="0" anchor="ctr"/>
          <a:lstStyle/>
          <a:p>
            <a:pPr algn="ctr" indent="0" marL="0">
              <a:buNone/>
            </a:pPr>
            <a:r>
              <a:rPr lang="en-US" sz="2200" b="1" dirty="0">
                <a:solidFill>
                  <a:schemeClr val="tx2"/>
                </a:solidFill>
              </a:rPr>
              <a:t>870K</a:t>
            </a:r>
            <a:endParaRPr lang="en-US" sz="2200" dirty="0"/>
          </a:p>
          <a:p>
            <a:pPr algn="ctr" indent="0" marL="0">
              <a:buNone/>
            </a:pPr>
            <a:r>
              <a:rPr lang="en-US" sz="1200" dirty="0">
                <a:solidFill>
                  <a:schemeClr val="accent4"/>
                </a:solidFill>
              </a:rPr>
              <a:t>Total Sales</a:t>
            </a:r>
            <a:endParaRPr lang="en-US" sz="2200" dirty="0"/>
          </a:p>
        </p:txBody>
      </p:sp>
      <p:sp>
        <p:nvSpPr>
          <p:cNvPr id="9" name="KPI 2"/>
          <p:cNvSpPr txBox="1"/>
          <p:nvPr/>
        </p:nvSpPr>
        <p:spPr>
          <a:xfrm>
            <a:off x="3422599" y="1920240"/>
            <a:ext cx="2560320" cy="777240"/>
          </a:xfrm>
          <a:prstGeom prst="roundRect">
            <a:avLst>
              <a:gd name="adj" fmla="val 7059"/>
            </a:avLst>
          </a:prstGeom>
          <a:solidFill>
            <a:schemeClr val="bg2"/>
          </a:solidFill>
          <a:ln w="9525">
            <a:solidFill>
              <a:srgbClr val="C9D8EC"/>
            </a:solidFill>
          </a:ln>
        </p:spPr>
        <p:txBody>
          <a:bodyPr wrap="square" lIns="50800" tIns="50800" rIns="50800" bIns="50800" rtlCol="0" anchor="ctr"/>
          <a:lstStyle/>
          <a:p>
            <a:pPr algn="ctr" indent="0" marL="0">
              <a:buNone/>
            </a:pPr>
            <a:r>
              <a:rPr lang="en-US" sz="2200" b="1" dirty="0">
                <a:solidFill>
                  <a:schemeClr val="tx2"/>
                </a:solidFill>
              </a:rPr>
              <a:t>1,240</a:t>
            </a:r>
            <a:endParaRPr lang="en-US" sz="2200" dirty="0"/>
          </a:p>
          <a:p>
            <a:pPr algn="ctr" indent="0" marL="0">
              <a:buNone/>
            </a:pPr>
            <a:r>
              <a:rPr lang="en-US" sz="1200" dirty="0">
                <a:solidFill>
                  <a:schemeClr val="accent4"/>
                </a:solidFill>
              </a:rPr>
              <a:t>Orders</a:t>
            </a:r>
            <a:endParaRPr lang="en-US" sz="2200" dirty="0"/>
          </a:p>
        </p:txBody>
      </p:sp>
      <p:sp>
        <p:nvSpPr>
          <p:cNvPr id="10" name="KPI 3"/>
          <p:cNvSpPr txBox="1"/>
          <p:nvPr/>
        </p:nvSpPr>
        <p:spPr>
          <a:xfrm>
            <a:off x="6205118" y="1920240"/>
            <a:ext cx="2560320" cy="777240"/>
          </a:xfrm>
          <a:prstGeom prst="roundRect">
            <a:avLst>
              <a:gd name="adj" fmla="val 7059"/>
            </a:avLst>
          </a:prstGeom>
          <a:solidFill>
            <a:schemeClr val="bg2"/>
          </a:solidFill>
          <a:ln w="9525">
            <a:solidFill>
              <a:srgbClr val="C9D8EC"/>
            </a:solidFill>
          </a:ln>
        </p:spPr>
        <p:txBody>
          <a:bodyPr wrap="square" lIns="50800" tIns="50800" rIns="50800" bIns="50800" rtlCol="0" anchor="ctr"/>
          <a:lstStyle/>
          <a:p>
            <a:pPr algn="ctr" indent="0" marL="0">
              <a:buNone/>
            </a:pPr>
            <a:r>
              <a:rPr lang="en-US" sz="2200" b="1" dirty="0">
                <a:solidFill>
                  <a:schemeClr val="tx2"/>
                </a:solidFill>
              </a:rPr>
              <a:t>702</a:t>
            </a:r>
            <a:endParaRPr lang="en-US" sz="2200" dirty="0"/>
          </a:p>
          <a:p>
            <a:pPr algn="ctr" indent="0" marL="0">
              <a:buNone/>
            </a:pPr>
            <a:r>
              <a:rPr lang="en-US" sz="1200" dirty="0">
                <a:solidFill>
                  <a:schemeClr val="accent4"/>
                </a:solidFill>
              </a:rPr>
              <a:t>Avg. Order Value</a:t>
            </a:r>
            <a:endParaRPr lang="en-US" sz="2200" dirty="0"/>
          </a:p>
        </p:txBody>
      </p:sp>
      <p:sp>
        <p:nvSpPr>
          <p:cNvPr id="11" name="KPI 4"/>
          <p:cNvSpPr txBox="1"/>
          <p:nvPr/>
        </p:nvSpPr>
        <p:spPr>
          <a:xfrm>
            <a:off x="8987638" y="1920240"/>
            <a:ext cx="2560320" cy="777240"/>
          </a:xfrm>
          <a:prstGeom prst="roundRect">
            <a:avLst>
              <a:gd name="adj" fmla="val 7059"/>
            </a:avLst>
          </a:prstGeom>
          <a:solidFill>
            <a:schemeClr val="bg2"/>
          </a:solidFill>
          <a:ln w="9525">
            <a:solidFill>
              <a:srgbClr val="C9D8EC"/>
            </a:solidFill>
          </a:ln>
        </p:spPr>
        <p:txBody>
          <a:bodyPr wrap="square" lIns="50800" tIns="50800" rIns="50800" bIns="50800" rtlCol="0" anchor="ctr"/>
          <a:lstStyle/>
          <a:p>
            <a:pPr algn="ctr" indent="0" marL="0">
              <a:buNone/>
            </a:pPr>
            <a:r>
              <a:rPr lang="en-US" sz="2200" b="1" dirty="0">
                <a:solidFill>
                  <a:schemeClr val="tx2"/>
                </a:solidFill>
              </a:rPr>
              <a:t>+8.0%</a:t>
            </a:r>
            <a:endParaRPr lang="en-US" sz="2200" dirty="0"/>
          </a:p>
          <a:p>
            <a:pPr algn="ctr" indent="0" marL="0">
              <a:buNone/>
            </a:pPr>
            <a:r>
              <a:rPr lang="en-US" sz="1200" dirty="0">
                <a:solidFill>
                  <a:schemeClr val="accent4"/>
                </a:solidFill>
              </a:rPr>
              <a:t>Growth (Jun vs May)</a:t>
            </a:r>
            <a:endParaRPr lang="en-US" sz="2200" dirty="0"/>
          </a:p>
        </p:txBody>
      </p:sp>
      <p:graphicFrame>
        <p:nvGraphicFramePr>
          <p:cNvPr id="12" name="Chart 0" descr=""/>
          <p:cNvGraphicFramePr/>
          <p:nvPr/>
        </p:nvGraphicFramePr>
        <p:xfrm>
          <a:off x="640080" y="2834640"/>
          <a:ext cx="5303520" cy="219456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6126480" y="2834640"/>
          <a:ext cx="5422392" cy="2194560"/>
        </p:xfrm>
        <a:graphic xmlns:a="http://schemas.openxmlformats.org/drawingml/2006/main">
          <a:graphicData uri="http://schemas.openxmlformats.org/drawingml/2006/chart">
            <c:chart xmlns:c="http://schemas.openxmlformats.org/drawingml/2006/chart" r:id="rId2"/>
          </a:graphicData>
        </a:graphic>
      </p:graphicFrame>
      <p:sp>
        <p:nvSpPr>
          <p:cNvPr id="14" name="AI Summary Box"/>
          <p:cNvSpPr txBox="1"/>
          <p:nvPr/>
        </p:nvSpPr>
        <p:spPr>
          <a:xfrm>
            <a:off x="640080" y="5166360"/>
            <a:ext cx="10908792" cy="914400"/>
          </a:xfrm>
          <a:prstGeom prst="roundRect">
            <a:avLst>
              <a:gd name="adj" fmla="val 6000"/>
            </a:avLst>
          </a:prstGeom>
          <a:solidFill>
            <a:schemeClr val="bg2"/>
          </a:solidFill>
          <a:ln w="9525">
            <a:solidFill>
              <a:srgbClr val="C9D8EC"/>
            </a:solidFill>
          </a:ln>
        </p:spPr>
        <p:txBody>
          <a:bodyPr wrap="square" lIns="152400" tIns="152400" rIns="152400" bIns="152400" rtlCol="0" anchor="ctr"/>
          <a:lstStyle/>
          <a:p>
            <a:pPr indent="0" marL="0">
              <a:buNone/>
            </a:pPr>
            <a:r>
              <a:rPr lang="en-US" sz="1400" b="1" dirty="0">
                <a:solidFill>
                  <a:schemeClr val="tx2"/>
                </a:solidFill>
              </a:rPr>
              <a:t>AI summary (mock-up): </a:t>
            </a:r>
            <a:pPr indent="0" marL="0">
              <a:buNone/>
            </a:pPr>
            <a:r>
              <a:rPr lang="en-US" sz="1400" dirty="0">
                <a:solidFill>
                  <a:schemeClr val="tx1"/>
                </a:solidFill>
              </a:rPr>
              <a:t>Sales grew steadily from January to June, reaching 870K in total. North region contributed the most (about 36%). June was the best month, up 8.0% over May.</a:t>
            </a:r>
            <a:endParaRPr lang="en-US" sz="14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Applications of the System</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Where this system can be used</a:t>
            </a:r>
            <a:endParaRPr lang="en-US" sz="1800" dirty="0"/>
          </a:p>
        </p:txBody>
      </p:sp>
      <p:sp>
        <p:nvSpPr>
          <p:cNvPr id="5" name="Application 1"/>
          <p:cNvSpPr txBox="1"/>
          <p:nvPr/>
        </p:nvSpPr>
        <p:spPr>
          <a:xfrm>
            <a:off x="457200" y="1508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Business Management</a:t>
            </a:r>
            <a:endParaRPr lang="en-US" sz="2100" dirty="0"/>
          </a:p>
          <a:p>
            <a:pPr indent="0" marL="0">
              <a:buNone/>
            </a:pPr>
            <a:r>
              <a:rPr lang="en-US" sz="1800" dirty="0">
                <a:solidFill>
                  <a:schemeClr val="tx1"/>
                </a:solidFill>
              </a:rPr>
              <a:t>Example: weekly KPI report for managers with revenue, costs and targets.</a:t>
            </a:r>
            <a:endParaRPr lang="en-US" sz="2100" dirty="0"/>
          </a:p>
        </p:txBody>
      </p:sp>
      <p:sp>
        <p:nvSpPr>
          <p:cNvPr id="6" name="Application 2"/>
          <p:cNvSpPr txBox="1"/>
          <p:nvPr/>
        </p:nvSpPr>
        <p:spPr>
          <a:xfrm>
            <a:off x="4274820" y="1508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Education</a:t>
            </a:r>
            <a:endParaRPr lang="en-US" sz="2100" dirty="0"/>
          </a:p>
          <a:p>
            <a:pPr indent="0" marL="0">
              <a:buNone/>
            </a:pPr>
            <a:r>
              <a:rPr lang="en-US" sz="1800" dirty="0">
                <a:solidFill>
                  <a:schemeClr val="tx1"/>
                </a:solidFill>
              </a:rPr>
              <a:t>Example: class-wise attendance and marks report for teachers and the principal.</a:t>
            </a:r>
            <a:endParaRPr lang="en-US" sz="2100" dirty="0"/>
          </a:p>
        </p:txBody>
      </p:sp>
      <p:sp>
        <p:nvSpPr>
          <p:cNvPr id="7" name="Application 3"/>
          <p:cNvSpPr txBox="1"/>
          <p:nvPr/>
        </p:nvSpPr>
        <p:spPr>
          <a:xfrm>
            <a:off x="8092440" y="1508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Finance</a:t>
            </a:r>
            <a:endParaRPr lang="en-US" sz="2100" dirty="0"/>
          </a:p>
          <a:p>
            <a:pPr indent="0" marL="0">
              <a:buNone/>
            </a:pPr>
            <a:r>
              <a:rPr lang="en-US" sz="1800" dirty="0">
                <a:solidFill>
                  <a:schemeClr val="tx1"/>
                </a:solidFill>
              </a:rPr>
              <a:t>Example: monthly income, expense and budget summary for a small firm.</a:t>
            </a:r>
            <a:endParaRPr lang="en-US" sz="2100" dirty="0"/>
          </a:p>
        </p:txBody>
      </p:sp>
      <p:sp>
        <p:nvSpPr>
          <p:cNvPr id="8" name="Application 4"/>
          <p:cNvSpPr txBox="1"/>
          <p:nvPr/>
        </p:nvSpPr>
        <p:spPr>
          <a:xfrm>
            <a:off x="457200" y="3794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Sales &amp; Marketing</a:t>
            </a:r>
            <a:endParaRPr lang="en-US" sz="2100" dirty="0"/>
          </a:p>
          <a:p>
            <a:pPr indent="0" marL="0">
              <a:buNone/>
            </a:pPr>
            <a:r>
              <a:rPr lang="en-US" sz="1800" dirty="0">
                <a:solidFill>
                  <a:schemeClr val="tx1"/>
                </a:solidFill>
              </a:rPr>
              <a:t>Example: region-wise sales report and campaign results.</a:t>
            </a:r>
            <a:endParaRPr lang="en-US" sz="2100" dirty="0"/>
          </a:p>
        </p:txBody>
      </p:sp>
      <p:sp>
        <p:nvSpPr>
          <p:cNvPr id="9" name="Application 5"/>
          <p:cNvSpPr txBox="1"/>
          <p:nvPr/>
        </p:nvSpPr>
        <p:spPr>
          <a:xfrm>
            <a:off x="4274820" y="3794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Healthcare</a:t>
            </a:r>
            <a:endParaRPr lang="en-US" sz="2100" dirty="0"/>
          </a:p>
          <a:p>
            <a:pPr indent="0" marL="0">
              <a:buNone/>
            </a:pPr>
            <a:r>
              <a:rPr lang="en-US" sz="1800" dirty="0">
                <a:solidFill>
                  <a:schemeClr val="tx1"/>
                </a:solidFill>
              </a:rPr>
              <a:t>Example: hospital visit and bed-usage summary (patient data must stay private).</a:t>
            </a:r>
            <a:endParaRPr lang="en-US" sz="2100" dirty="0"/>
          </a:p>
        </p:txBody>
      </p:sp>
      <p:sp>
        <p:nvSpPr>
          <p:cNvPr id="10" name="Application 6"/>
          <p:cNvSpPr txBox="1"/>
          <p:nvPr/>
        </p:nvSpPr>
        <p:spPr>
          <a:xfrm>
            <a:off x="8092440" y="3794760"/>
            <a:ext cx="3611880" cy="2057400"/>
          </a:xfrm>
          <a:prstGeom prst="roundRect">
            <a:avLst>
              <a:gd name="adj" fmla="val 3556"/>
            </a:avLst>
          </a:prstGeom>
          <a:solidFill>
            <a:schemeClr val="bg2"/>
          </a:solidFill>
          <a:ln w="9525">
            <a:solidFill>
              <a:srgbClr val="C9D8EC"/>
            </a:solidFill>
          </a:ln>
        </p:spPr>
        <p:txBody>
          <a:bodyPr wrap="square" lIns="152400" tIns="152400" rIns="152400" bIns="152400" rtlCol="0" anchor="t"/>
          <a:lstStyle/>
          <a:p>
            <a:pPr indent="0" marL="0">
              <a:spcAft>
                <a:spcPts val="800"/>
              </a:spcAft>
              <a:buNone/>
            </a:pPr>
            <a:r>
              <a:rPr lang="en-US" sz="2100" b="1" dirty="0">
                <a:solidFill>
                  <a:schemeClr val="tx2"/>
                </a:solidFill>
              </a:rPr>
              <a:t>Human Resources</a:t>
            </a:r>
            <a:endParaRPr lang="en-US" sz="2100" dirty="0"/>
          </a:p>
          <a:p>
            <a:pPr indent="0" marL="0">
              <a:buNone/>
            </a:pPr>
            <a:r>
              <a:rPr lang="en-US" sz="1800" dirty="0">
                <a:solidFill>
                  <a:schemeClr val="tx1"/>
                </a:solidFill>
              </a:rPr>
              <a:t>Example: employee attendance, leave and overtime report.</a:t>
            </a:r>
            <a:endParaRPr lang="en-US" sz="21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Advantages and Limitations</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Practical benefits and possible challenges</a:t>
            </a:r>
            <a:endParaRPr lang="en-US" sz="1800" dirty="0"/>
          </a:p>
        </p:txBody>
      </p:sp>
      <p:sp>
        <p:nvSpPr>
          <p:cNvPr id="5" name="Advantages Card"/>
          <p:cNvSpPr txBox="1"/>
          <p:nvPr/>
        </p:nvSpPr>
        <p:spPr>
          <a:xfrm>
            <a:off x="457200" y="1508760"/>
            <a:ext cx="4846320" cy="4480560"/>
          </a:xfrm>
          <a:prstGeom prst="roundRect">
            <a:avLst>
              <a:gd name="adj" fmla="val 1633"/>
            </a:avLst>
          </a:prstGeom>
          <a:solidFill>
            <a:schemeClr val="bg2"/>
          </a:solidFill>
          <a:ln w="9525">
            <a:solidFill>
              <a:srgbClr val="C9D8EC"/>
            </a:solidFill>
          </a:ln>
        </p:spPr>
        <p:txBody>
          <a:bodyPr wrap="square" lIns="203200" tIns="203200" rIns="203200" bIns="203200" rtlCol="0" anchor="t"/>
          <a:lstStyle/>
          <a:p>
            <a:pPr indent="0" marL="0">
              <a:spcAft>
                <a:spcPts val="1200"/>
              </a:spcAft>
              <a:buNone/>
            </a:pPr>
            <a:r>
              <a:rPr lang="en-US" sz="2200" b="1" dirty="0">
                <a:solidFill>
                  <a:schemeClr val="tx2"/>
                </a:solidFill>
              </a:rPr>
              <a:t>Advantages</a:t>
            </a:r>
            <a:endParaRPr lang="en-US" sz="2200" dirty="0"/>
          </a:p>
          <a:p>
            <a:pPr algn="l" marL="203200" indent="-203200">
              <a:spcAft>
                <a:spcPts val="1200"/>
              </a:spcAft>
              <a:buSzPct val="100000"/>
              <a:buChar char="•"/>
            </a:pPr>
            <a:r>
              <a:rPr lang="en-US" sz="1900" b="1" dirty="0">
                <a:solidFill>
                  <a:schemeClr val="tx2"/>
                </a:solidFill>
              </a:rPr>
              <a:t>Saves time:</a:t>
            </a:r>
            <a:pPr algn="l" marL="203200" indent="-203200">
              <a:spcAft>
                <a:spcPts val="1200"/>
              </a:spcAft>
              <a:buSzPct val="100000"/>
              <a:buChar char="•"/>
            </a:pPr>
            <a:r>
              <a:rPr lang="en-US" sz="1900" dirty="0">
                <a:solidFill>
                  <a:schemeClr val="tx1"/>
                </a:solidFill>
              </a:rPr>
              <a:t> report in minutes</a:t>
            </a:r>
            <a:endParaRPr lang="en-US" sz="2200" dirty="0"/>
          </a:p>
          <a:p>
            <a:pPr algn="l" marL="203200" indent="-203200">
              <a:spcAft>
                <a:spcPts val="1200"/>
              </a:spcAft>
              <a:buSzPct val="100000"/>
              <a:buChar char="•"/>
            </a:pPr>
            <a:r>
              <a:rPr lang="en-US" sz="1900" b="1" dirty="0">
                <a:solidFill>
                  <a:schemeClr val="tx2"/>
                </a:solidFill>
              </a:rPr>
              <a:t>Fewer errors:</a:t>
            </a:r>
            <a:pPr algn="l" marL="203200" indent="-203200">
              <a:spcAft>
                <a:spcPts val="1200"/>
              </a:spcAft>
              <a:buSzPct val="100000"/>
              <a:buChar char="•"/>
            </a:pPr>
            <a:r>
              <a:rPr lang="en-US" sz="1900" dirty="0">
                <a:solidFill>
                  <a:schemeClr val="tx1"/>
                </a:solidFill>
              </a:rPr>
              <a:t> calculations are done by code</a:t>
            </a:r>
            <a:endParaRPr lang="en-US" sz="2200" dirty="0"/>
          </a:p>
          <a:p>
            <a:pPr algn="l" marL="203200" indent="-203200">
              <a:spcAft>
                <a:spcPts val="1200"/>
              </a:spcAft>
              <a:buSzPct val="100000"/>
              <a:buChar char="•"/>
            </a:pPr>
            <a:r>
              <a:rPr lang="en-US" sz="1900" b="1" dirty="0">
                <a:solidFill>
                  <a:schemeClr val="tx2"/>
                </a:solidFill>
              </a:rPr>
              <a:t>Consistent:</a:t>
            </a:r>
            <a:pPr algn="l" marL="203200" indent="-203200">
              <a:spcAft>
                <a:spcPts val="1200"/>
              </a:spcAft>
              <a:buSzPct val="100000"/>
              <a:buChar char="•"/>
            </a:pPr>
            <a:r>
              <a:rPr lang="en-US" sz="1900" dirty="0">
                <a:solidFill>
                  <a:schemeClr val="tx1"/>
                </a:solidFill>
              </a:rPr>
              <a:t> same format every time</a:t>
            </a:r>
            <a:endParaRPr lang="en-US" sz="2200" dirty="0"/>
          </a:p>
          <a:p>
            <a:pPr algn="l" marL="203200" indent="-203200">
              <a:spcAft>
                <a:spcPts val="1200"/>
              </a:spcAft>
              <a:buSzPct val="100000"/>
              <a:buChar char="•"/>
            </a:pPr>
            <a:r>
              <a:rPr lang="en-US" sz="1900" b="1" dirty="0">
                <a:solidFill>
                  <a:schemeClr val="tx2"/>
                </a:solidFill>
              </a:rPr>
              <a:t>Easy to use:</a:t>
            </a:r>
            <a:pPr algn="l" marL="203200" indent="-203200">
              <a:spcAft>
                <a:spcPts val="1200"/>
              </a:spcAft>
              <a:buSzPct val="100000"/>
              <a:buChar char="•"/>
            </a:pPr>
            <a:r>
              <a:rPr lang="en-US" sz="1900" dirty="0">
                <a:solidFill>
                  <a:schemeClr val="tx1"/>
                </a:solidFill>
              </a:rPr>
              <a:t> no coding for the end user</a:t>
            </a:r>
            <a:endParaRPr lang="en-US" sz="2200" dirty="0"/>
          </a:p>
          <a:p>
            <a:pPr algn="l" marL="203200" indent="-203200">
              <a:spcAft>
                <a:spcPts val="1200"/>
              </a:spcAft>
              <a:buSzPct val="100000"/>
              <a:buChar char="•"/>
            </a:pPr>
            <a:r>
              <a:rPr lang="en-US" sz="1900" b="1" dirty="0">
                <a:solidFill>
                  <a:schemeClr val="tx2"/>
                </a:solidFill>
              </a:rPr>
              <a:t>Reusable:</a:t>
            </a:r>
            <a:pPr algn="l" marL="203200" indent="-203200">
              <a:spcAft>
                <a:spcPts val="1200"/>
              </a:spcAft>
              <a:buSzPct val="100000"/>
              <a:buChar char="•"/>
            </a:pPr>
            <a:r>
              <a:rPr lang="en-US" sz="1900" dirty="0">
                <a:solidFill>
                  <a:schemeClr val="tx1"/>
                </a:solidFill>
              </a:rPr>
              <a:t> works again for new data</a:t>
            </a:r>
            <a:endParaRPr lang="en-US" sz="2200" dirty="0"/>
          </a:p>
        </p:txBody>
      </p:sp>
      <p:sp>
        <p:nvSpPr>
          <p:cNvPr id="6" name="Text 3"/>
          <p:cNvSpPr txBox="1"/>
          <p:nvPr/>
        </p:nvSpPr>
        <p:spPr>
          <a:xfrm>
            <a:off x="5577840" y="1508760"/>
            <a:ext cx="6126480" cy="411480"/>
          </a:xfrm>
          <a:prstGeom prst="rect">
            <a:avLst/>
          </a:prstGeom>
          <a:noFill/>
          <a:ln/>
        </p:spPr>
        <p:txBody>
          <a:bodyPr wrap="square" lIns="0" tIns="0" rIns="0" bIns="0" rtlCol="0" anchor="ctr"/>
          <a:lstStyle/>
          <a:p>
            <a:pPr indent="0" marL="0">
              <a:buNone/>
            </a:pPr>
            <a:r>
              <a:rPr lang="en-US" sz="2000" b="1" dirty="0">
                <a:solidFill>
                  <a:schemeClr val="tx2"/>
                </a:solidFill>
              </a:rPr>
              <a:t>Challenges and ideas to handle them</a:t>
            </a:r>
            <a:endParaRPr lang="en-US" sz="2000" dirty="0"/>
          </a:p>
        </p:txBody>
      </p:sp>
      <p:graphicFrame>
        <p:nvGraphicFramePr>
          <p:cNvPr id="16" name="Challenges Table"/>
          <p:cNvGraphicFramePr>
            <a:graphicFrameLocks noGrp="1"/>
          </p:cNvGraphicFramePr>
          <p:nvPr>
            <p:extLst>
              <p:ext uri="{D42A27DB-BD31-4B8C-83A1-F6EECF244321}">
                <p14:modId xmlns:p14="http://schemas.microsoft.com/office/powerpoint/2010/main" val="1579011935"/>
              </p:ext>
            </p:extLst>
          </p:nvPr>
        </p:nvGraphicFramePr>
        <p:xfrm>
          <a:off x="5577840" y="2011680"/>
          <a:ext cx="6126480" cy="914400"/>
        </p:xfrm>
        <a:graphic>
          <a:graphicData uri="http://schemas.openxmlformats.org/drawingml/2006/table">
            <a:tbl>
              <a:tblPr/>
              <a:tblGrid>
                <a:gridCol w="1920240"/>
                <a:gridCol w="4206240"/>
              </a:tblGrid>
              <a:tr h="457200">
                <a:tc>
                  <a:txBody>
                    <a:bodyPr/>
                    <a:lstStyle/>
                    <a:p>
                      <a:pPr indent="0" marL="0">
                        <a:buNone/>
                      </a:pPr>
                      <a:r>
                        <a:rPr lang="en-US" sz="1600" b="1" dirty="0">
                          <a:solidFill>
                            <a:srgbClr val="FFFFFF"/>
                          </a:solidFill>
                        </a:rPr>
                        <a:t>Challenge</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14325C"/>
                    </a:solidFill>
                  </a:tcPr>
                </a:tc>
                <a:tc>
                  <a:txBody>
                    <a:bodyPr/>
                    <a:lstStyle/>
                    <a:p>
                      <a:pPr indent="0" marL="0">
                        <a:buNone/>
                      </a:pPr>
                      <a:r>
                        <a:rPr lang="en-US" sz="1600" b="1" dirty="0">
                          <a:solidFill>
                            <a:srgbClr val="FFFFFF"/>
                          </a:solidFill>
                        </a:rPr>
                        <a:t>Possible solution</a:t>
                      </a:r>
                      <a:endParaRPr lang="en-US" sz="16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14325C"/>
                    </a:solidFill>
                  </a:tcPr>
                </a:tc>
              </a:tr>
              <a:tr h="868680">
                <a:tc>
                  <a:txBody>
                    <a:bodyPr/>
                    <a:lstStyle/>
                    <a:p>
                      <a:pPr indent="0" marL="0">
                        <a:buNone/>
                      </a:pPr>
                      <a:r>
                        <a:rPr lang="en-US" sz="1500" b="1" dirty="0">
                          <a:solidFill>
                            <a:srgbClr val="1F2933"/>
                          </a:solidFill>
                        </a:rPr>
                        <a:t>Data privacy</a:t>
                      </a:r>
                      <a:endParaRPr lang="en-US" sz="15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Remove names and personal details before sending data to the AI</a:t>
                      </a:r>
                      <a:endParaRPr lang="en-US" sz="15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1F2933"/>
                          </a:solidFill>
                        </a:rPr>
                        <a:t>Poor data quality</a:t>
                      </a:r>
                      <a:endParaRPr lang="en-US" sz="15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Add validation checks and clear error messages</a:t>
                      </a:r>
                      <a:endParaRPr lang="en-US" sz="15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1F2933"/>
                          </a:solidFill>
                        </a:rPr>
                        <a:t>API cost and limits</a:t>
                      </a:r>
                      <a:endParaRPr lang="en-US" sz="15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Send only key numbers and save results for reuse</a:t>
                      </a:r>
                      <a:endParaRPr lang="en-US" sz="15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1F2933"/>
                          </a:solidFill>
                        </a:rPr>
                        <a:t>Trust in AI text</a:t>
                      </a:r>
                      <a:endParaRPr lang="en-US" sz="15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EEF3FA"/>
                    </a:solidFill>
                  </a:tcPr>
                </a:tc>
                <a:tc>
                  <a:txBody>
                    <a:bodyPr/>
                    <a:lstStyle/>
                    <a:p>
                      <a:pPr indent="0" marL="0">
                        <a:buNone/>
                      </a:pPr>
                      <a:r>
                        <a:rPr lang="en-US" sz="1500" dirty="0">
                          <a:solidFill>
                            <a:srgbClr val="1F2933"/>
                          </a:solidFill>
                        </a:rPr>
                        <a:t>Show numbers next to the summary; let the user edit it</a:t>
                      </a:r>
                      <a:endParaRPr lang="en-US" sz="1500" dirty="0"/>
                    </a:p>
                  </a:txBody>
                  <a:tcPr marL="127000" marR="127000" marT="50800" marB="50800" anchor="ctr">
                    <a:lnL w="9525" cap="flat" cmpd="sng" algn="ctr">
                      <a:solidFill>
                        <a:srgbClr val="C9D8EC"/>
                      </a:solidFill>
                      <a:prstDash val="solid"/>
                      <a:round/>
                      <a:headEnd type="none" w="med" len="med"/>
                      <a:tailEnd type="none" w="med" len="med"/>
                    </a:lnL>
                    <a:lnR w="9525" cap="flat" cmpd="sng" algn="ctr">
                      <a:solidFill>
                        <a:srgbClr val="C9D8EC"/>
                      </a:solidFill>
                      <a:prstDash val="solid"/>
                      <a:round/>
                      <a:headEnd type="none" w="med" len="med"/>
                      <a:tailEnd type="none" w="med" len="med"/>
                    </a:lnR>
                    <a:lnT w="9525" cap="flat" cmpd="sng" algn="ctr">
                      <a:solidFill>
                        <a:srgbClr val="C9D8EC"/>
                      </a:solidFill>
                      <a:prstDash val="solid"/>
                      <a:round/>
                      <a:headEnd type="none" w="med" len="med"/>
                      <a:tailEnd type="none" w="med" len="med"/>
                    </a:lnT>
                    <a:lnB w="9525" cap="flat" cmpd="sng" algn="ctr">
                      <a:solidFill>
                        <a:srgbClr val="C9D8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Future Scope</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Ideas to improve the project later</a:t>
            </a:r>
            <a:endParaRPr lang="en-US" sz="1800" dirty="0"/>
          </a:p>
        </p:txBody>
      </p:sp>
      <p:sp>
        <p:nvSpPr>
          <p:cNvPr id="5" name="Near term Header"/>
          <p:cNvSpPr txBox="1"/>
          <p:nvPr/>
        </p:nvSpPr>
        <p:spPr>
          <a:xfrm>
            <a:off x="457200" y="1508760"/>
            <a:ext cx="3611880" cy="640080"/>
          </a:xfrm>
          <a:prstGeom prst="homePlate">
            <a:avLst/>
          </a:prstGeom>
          <a:solidFill>
            <a:schemeClr val="accent1"/>
          </a:solidFill>
          <a:ln/>
        </p:spPr>
        <p:txBody>
          <a:bodyPr wrap="square" lIns="177800" tIns="177800" rIns="177800" bIns="177800" rtlCol="0" anchor="ctr"/>
          <a:lstStyle/>
          <a:p>
            <a:pPr indent="0" marL="0">
              <a:buNone/>
            </a:pPr>
            <a:r>
              <a:rPr lang="en-US" sz="2000" b="1" dirty="0">
                <a:solidFill>
                  <a:schemeClr val="bg1"/>
                </a:solidFill>
              </a:rPr>
              <a:t>Near term</a:t>
            </a:r>
            <a:endParaRPr lang="en-US" sz="2000" dirty="0"/>
          </a:p>
        </p:txBody>
      </p:sp>
      <p:sp>
        <p:nvSpPr>
          <p:cNvPr id="6" name="Near term Body"/>
          <p:cNvSpPr txBox="1"/>
          <p:nvPr/>
        </p:nvSpPr>
        <p:spPr>
          <a:xfrm>
            <a:off x="457200" y="2331720"/>
            <a:ext cx="3611880" cy="2926080"/>
          </a:xfrm>
          <a:prstGeom prst="rect">
            <a:avLst/>
          </a:prstGeom>
          <a:solidFill>
            <a:schemeClr val="bg2"/>
          </a:solidFill>
          <a:ln w="9525">
            <a:solidFill>
              <a:srgbClr val="C9D8EC"/>
            </a:solidFill>
          </a:ln>
        </p:spPr>
        <p:txBody>
          <a:bodyPr wrap="square" lIns="203200" tIns="203200" rIns="203200" bIns="203200" rtlCol="0" anchor="t"/>
          <a:lstStyle/>
          <a:p>
            <a:pPr algn="l" marL="203200" indent="-203200">
              <a:spcAft>
                <a:spcPts val="1200"/>
              </a:spcAft>
              <a:buSzPct val="100000"/>
              <a:buChar char="•"/>
            </a:pPr>
            <a:r>
              <a:rPr lang="en-US" sz="1900" dirty="0">
                <a:solidFill>
                  <a:schemeClr val="tx1"/>
                </a:solidFill>
              </a:rPr>
              <a:t>More inputs: JSON and Google Sheets</a:t>
            </a:r>
            <a:endParaRPr lang="en-US" sz="1900" dirty="0"/>
          </a:p>
          <a:p>
            <a:pPr algn="l" marL="203200" indent="-203200">
              <a:spcAft>
                <a:spcPts val="1200"/>
              </a:spcAft>
              <a:buSzPct val="100000"/>
              <a:buChar char="•"/>
            </a:pPr>
            <a:r>
              <a:rPr lang="en-US" sz="1900" dirty="0">
                <a:solidFill>
                  <a:schemeClr val="tx1"/>
                </a:solidFill>
              </a:rPr>
              <a:t>Send reports by email on a schedule</a:t>
            </a:r>
            <a:endParaRPr lang="en-US" sz="1900" dirty="0"/>
          </a:p>
          <a:p>
            <a:pPr algn="l" marL="203200" indent="-203200">
              <a:spcAft>
                <a:spcPts val="1200"/>
              </a:spcAft>
              <a:buSzPct val="100000"/>
              <a:buChar char="•"/>
            </a:pPr>
            <a:r>
              <a:rPr lang="en-US" sz="1900" dirty="0">
                <a:solidFill>
                  <a:schemeClr val="tx1"/>
                </a:solidFill>
              </a:rPr>
              <a:t>More chart types and report templates</a:t>
            </a:r>
            <a:endParaRPr lang="en-US" sz="1900" dirty="0"/>
          </a:p>
        </p:txBody>
      </p:sp>
      <p:sp>
        <p:nvSpPr>
          <p:cNvPr id="7" name="Next step Header"/>
          <p:cNvSpPr txBox="1"/>
          <p:nvPr/>
        </p:nvSpPr>
        <p:spPr>
          <a:xfrm>
            <a:off x="4274820" y="1508760"/>
            <a:ext cx="3611880" cy="640080"/>
          </a:xfrm>
          <a:prstGeom prst="homePlate">
            <a:avLst/>
          </a:prstGeom>
          <a:solidFill>
            <a:schemeClr val="accent4"/>
          </a:solidFill>
          <a:ln/>
        </p:spPr>
        <p:txBody>
          <a:bodyPr wrap="square" lIns="177800" tIns="177800" rIns="177800" bIns="177800" rtlCol="0" anchor="ctr"/>
          <a:lstStyle/>
          <a:p>
            <a:pPr indent="0" marL="0">
              <a:buNone/>
            </a:pPr>
            <a:r>
              <a:rPr lang="en-US" sz="2000" b="1" dirty="0">
                <a:solidFill>
                  <a:schemeClr val="bg1"/>
                </a:solidFill>
              </a:rPr>
              <a:t>Next step</a:t>
            </a:r>
            <a:endParaRPr lang="en-US" sz="2000" dirty="0"/>
          </a:p>
        </p:txBody>
      </p:sp>
      <p:sp>
        <p:nvSpPr>
          <p:cNvPr id="8" name="Next step Body"/>
          <p:cNvSpPr txBox="1"/>
          <p:nvPr/>
        </p:nvSpPr>
        <p:spPr>
          <a:xfrm>
            <a:off x="4274820" y="2331720"/>
            <a:ext cx="3611880" cy="2926080"/>
          </a:xfrm>
          <a:prstGeom prst="rect">
            <a:avLst/>
          </a:prstGeom>
          <a:solidFill>
            <a:schemeClr val="bg2"/>
          </a:solidFill>
          <a:ln w="9525">
            <a:solidFill>
              <a:srgbClr val="C9D8EC"/>
            </a:solidFill>
          </a:ln>
        </p:spPr>
        <p:txBody>
          <a:bodyPr wrap="square" lIns="203200" tIns="203200" rIns="203200" bIns="203200" rtlCol="0" anchor="t"/>
          <a:lstStyle/>
          <a:p>
            <a:pPr algn="l" marL="203200" indent="-203200">
              <a:spcAft>
                <a:spcPts val="1200"/>
              </a:spcAft>
              <a:buSzPct val="100000"/>
              <a:buChar char="•"/>
            </a:pPr>
            <a:r>
              <a:rPr lang="en-US" sz="1900" dirty="0">
                <a:solidFill>
                  <a:schemeClr val="tx1"/>
                </a:solidFill>
              </a:rPr>
              <a:t>Chat box to ask “Which region sold the most?”</a:t>
            </a:r>
            <a:endParaRPr lang="en-US" sz="1900" dirty="0"/>
          </a:p>
          <a:p>
            <a:pPr algn="l" marL="203200" indent="-203200">
              <a:spcAft>
                <a:spcPts val="1200"/>
              </a:spcAft>
              <a:buSzPct val="100000"/>
              <a:buChar char="•"/>
            </a:pPr>
            <a:r>
              <a:rPr lang="en-US" sz="1900" dirty="0">
                <a:solidFill>
                  <a:schemeClr val="tx1"/>
                </a:solidFill>
              </a:rPr>
              <a:t>Simple sales forecast using machine learning</a:t>
            </a:r>
            <a:endParaRPr lang="en-US" sz="1900" dirty="0"/>
          </a:p>
          <a:p>
            <a:pPr algn="l" marL="203200" indent="-203200">
              <a:spcAft>
                <a:spcPts val="1200"/>
              </a:spcAft>
              <a:buSzPct val="100000"/>
              <a:buChar char="•"/>
            </a:pPr>
            <a:r>
              <a:rPr lang="en-US" sz="1900" dirty="0">
                <a:solidFill>
                  <a:schemeClr val="tx1"/>
                </a:solidFill>
              </a:rPr>
              <a:t>Compare this month with last month</a:t>
            </a:r>
            <a:endParaRPr lang="en-US" sz="1900" dirty="0"/>
          </a:p>
        </p:txBody>
      </p:sp>
      <p:sp>
        <p:nvSpPr>
          <p:cNvPr id="9" name="Long term Header"/>
          <p:cNvSpPr txBox="1"/>
          <p:nvPr/>
        </p:nvSpPr>
        <p:spPr>
          <a:xfrm>
            <a:off x="8092440" y="1508760"/>
            <a:ext cx="3611880" cy="640080"/>
          </a:xfrm>
          <a:prstGeom prst="homePlate">
            <a:avLst/>
          </a:prstGeom>
          <a:solidFill>
            <a:schemeClr val="tx2"/>
          </a:solidFill>
          <a:ln/>
        </p:spPr>
        <p:txBody>
          <a:bodyPr wrap="square" lIns="177800" tIns="177800" rIns="177800" bIns="177800" rtlCol="0" anchor="ctr"/>
          <a:lstStyle/>
          <a:p>
            <a:pPr indent="0" marL="0">
              <a:buNone/>
            </a:pPr>
            <a:r>
              <a:rPr lang="en-US" sz="2000" b="1" dirty="0">
                <a:solidFill>
                  <a:schemeClr val="bg1"/>
                </a:solidFill>
              </a:rPr>
              <a:t>Long term</a:t>
            </a:r>
            <a:endParaRPr lang="en-US" sz="2000" dirty="0"/>
          </a:p>
        </p:txBody>
      </p:sp>
      <p:sp>
        <p:nvSpPr>
          <p:cNvPr id="10" name="Long term Body"/>
          <p:cNvSpPr txBox="1"/>
          <p:nvPr/>
        </p:nvSpPr>
        <p:spPr>
          <a:xfrm>
            <a:off x="8092440" y="2331720"/>
            <a:ext cx="3611880" cy="2926080"/>
          </a:xfrm>
          <a:prstGeom prst="rect">
            <a:avLst/>
          </a:prstGeom>
          <a:solidFill>
            <a:schemeClr val="bg2"/>
          </a:solidFill>
          <a:ln w="9525">
            <a:solidFill>
              <a:srgbClr val="C9D8EC"/>
            </a:solidFill>
          </a:ln>
        </p:spPr>
        <p:txBody>
          <a:bodyPr wrap="square" lIns="203200" tIns="203200" rIns="203200" bIns="203200" rtlCol="0" anchor="t"/>
          <a:lstStyle/>
          <a:p>
            <a:pPr algn="l" marL="203200" indent="-203200">
              <a:spcAft>
                <a:spcPts val="1200"/>
              </a:spcAft>
              <a:buSzPct val="100000"/>
              <a:buChar char="•"/>
            </a:pPr>
            <a:r>
              <a:rPr lang="en-US" sz="1900" dirty="0">
                <a:solidFill>
                  <a:schemeClr val="tx1"/>
                </a:solidFill>
              </a:rPr>
              <a:t>Live dashboards using real-time data</a:t>
            </a:r>
            <a:endParaRPr lang="en-US" sz="1900" dirty="0"/>
          </a:p>
          <a:p>
            <a:pPr algn="l" marL="203200" indent="-203200">
              <a:spcAft>
                <a:spcPts val="1200"/>
              </a:spcAft>
              <a:buSzPct val="100000"/>
              <a:buChar char="•"/>
            </a:pPr>
            <a:r>
              <a:rPr lang="en-US" sz="1900" dirty="0">
                <a:solidFill>
                  <a:schemeClr val="tx1"/>
                </a:solidFill>
              </a:rPr>
              <a:t>Reports in Hindi and other languages</a:t>
            </a:r>
            <a:endParaRPr lang="en-US" sz="1900" dirty="0"/>
          </a:p>
          <a:p>
            <a:pPr algn="l" marL="203200" indent="-203200">
              <a:spcAft>
                <a:spcPts val="1200"/>
              </a:spcAft>
              <a:buSzPct val="100000"/>
              <a:buChar char="•"/>
            </a:pPr>
            <a:r>
              <a:rPr lang="en-US" sz="1900" dirty="0">
                <a:solidFill>
                  <a:schemeClr val="tx1"/>
                </a:solidFill>
              </a:rPr>
              <a:t>User login with access levels</a:t>
            </a:r>
            <a:endParaRPr lang="en-US" sz="19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3200" b="1" dirty="0">
                <a:solidFill>
                  <a:schemeClr val="tx2"/>
                </a:solidFill>
              </a:rPr>
              <a:t>Conclusion and References</a:t>
            </a:r>
            <a:endParaRPr lang="en-US" sz="3200" dirty="0"/>
          </a:p>
        </p:txBody>
      </p:sp>
      <p:sp>
        <p:nvSpPr>
          <p:cNvPr id="3" name="Subheading"/>
          <p:cNvSpPr txBox="1"/>
          <p:nvPr/>
        </p:nvSpPr>
        <p:spPr>
          <a:xfrm>
            <a:off x="457200" y="914400"/>
            <a:ext cx="11247120" cy="365760"/>
          </a:xfrm>
          <a:prstGeom prst="rect">
            <a:avLst/>
          </a:prstGeom>
          <a:noFill/>
          <a:ln/>
        </p:spPr>
        <p:txBody>
          <a:bodyPr wrap="square" lIns="0" tIns="0" rIns="0" bIns="0" rtlCol="0" anchor="ctr"/>
          <a:lstStyle/>
          <a:p>
            <a:pPr indent="0" marL="0">
              <a:buNone/>
            </a:pPr>
            <a:r>
              <a:rPr lang="en-US" sz="1800" dirty="0">
                <a:solidFill>
                  <a:schemeClr val="accent1"/>
                </a:solidFill>
              </a:rPr>
              <a:t>Project summary and sources</a:t>
            </a:r>
            <a:endParaRPr lang="en-US" sz="1800" dirty="0"/>
          </a:p>
        </p:txBody>
      </p:sp>
      <p:sp>
        <p:nvSpPr>
          <p:cNvPr id="5" name="Text 2"/>
          <p:cNvSpPr txBox="1"/>
          <p:nvPr/>
        </p:nvSpPr>
        <p:spPr>
          <a:xfrm>
            <a:off x="457200" y="1508760"/>
            <a:ext cx="5212080" cy="2926080"/>
          </a:xfrm>
          <a:prstGeom prst="rect">
            <a:avLst/>
          </a:prstGeom>
          <a:noFill/>
          <a:ln/>
        </p:spPr>
        <p:txBody>
          <a:bodyPr wrap="square" lIns="0" tIns="0" rIns="0" bIns="0" rtlCol="0" anchor="t"/>
          <a:lstStyle/>
          <a:p>
            <a:pPr algn="l" marL="203200" indent="-203200">
              <a:spcAft>
                <a:spcPts val="1000"/>
              </a:spcAft>
              <a:buSzPct val="100000"/>
              <a:buChar char="•"/>
            </a:pPr>
            <a:r>
              <a:rPr lang="en-US" sz="1900" b="1" dirty="0">
                <a:solidFill>
                  <a:schemeClr val="tx2"/>
                </a:solidFill>
              </a:rPr>
              <a:t>The AI Reporting System</a:t>
            </a:r>
            <a:pPr algn="l" marL="203200" indent="-203200">
              <a:spcAft>
                <a:spcPts val="1000"/>
              </a:spcAft>
              <a:buSzPct val="100000"/>
              <a:buChar char="•"/>
            </a:pPr>
            <a:r>
              <a:rPr lang="en-US" sz="1900" dirty="0">
                <a:solidFill>
                  <a:schemeClr val="tx1"/>
                </a:solidFill>
              </a:rPr>
              <a:t> is proposed to make reporting faster, simpler and more accurate</a:t>
            </a:r>
            <a:endParaRPr lang="en-US" sz="1900" dirty="0"/>
          </a:p>
          <a:p>
            <a:pPr algn="l" marL="203200" indent="-203200">
              <a:spcAft>
                <a:spcPts val="1000"/>
              </a:spcAft>
              <a:buSzPct val="100000"/>
              <a:buChar char="•"/>
            </a:pPr>
            <a:r>
              <a:rPr lang="en-US" sz="1900" b="1" dirty="0">
                <a:solidFill>
                  <a:schemeClr val="tx2"/>
                </a:solidFill>
              </a:rPr>
              <a:t>Python and Pandas</a:t>
            </a:r>
            <a:pPr algn="l" marL="203200" indent="-203200">
              <a:spcAft>
                <a:spcPts val="1000"/>
              </a:spcAft>
              <a:buSzPct val="100000"/>
              <a:buChar char="•"/>
            </a:pPr>
            <a:r>
              <a:rPr lang="en-US" sz="1900" dirty="0">
                <a:solidFill>
                  <a:schemeClr val="tx1"/>
                </a:solidFill>
              </a:rPr>
              <a:t> handle the data; an LLM writes the summary</a:t>
            </a:r>
            <a:endParaRPr lang="en-US" sz="1900" dirty="0"/>
          </a:p>
          <a:p>
            <a:pPr algn="l" marL="203200" indent="-203200">
              <a:spcAft>
                <a:spcPts val="1000"/>
              </a:spcAft>
              <a:buSzPct val="100000"/>
              <a:buChar char="•"/>
            </a:pPr>
            <a:r>
              <a:rPr lang="en-US" sz="1900" b="1" dirty="0">
                <a:solidFill>
                  <a:schemeClr val="tx2"/>
                </a:solidFill>
              </a:rPr>
              <a:t>The dashboard</a:t>
            </a:r>
            <a:pPr algn="l" marL="203200" indent="-203200">
              <a:spcAft>
                <a:spcPts val="1000"/>
              </a:spcAft>
              <a:buSzPct val="100000"/>
              <a:buChar char="•"/>
            </a:pPr>
            <a:r>
              <a:rPr lang="en-US" sz="1900" dirty="0">
                <a:solidFill>
                  <a:schemeClr val="tx1"/>
                </a:solidFill>
              </a:rPr>
              <a:t> helps non-technical users read the results easily</a:t>
            </a:r>
            <a:endParaRPr lang="en-US" sz="1900" dirty="0"/>
          </a:p>
          <a:p>
            <a:pPr algn="l" marL="203200" indent="-203200">
              <a:spcAft>
                <a:spcPts val="1000"/>
              </a:spcAft>
              <a:buSzPct val="100000"/>
              <a:buChar char="•"/>
            </a:pPr>
            <a:r>
              <a:rPr lang="en-US" sz="1900" b="1" dirty="0">
                <a:solidFill>
                  <a:schemeClr val="tx2"/>
                </a:solidFill>
              </a:rPr>
              <a:t>Current status:</a:t>
            </a:r>
            <a:pPr algn="l" marL="203200" indent="-203200">
              <a:spcAft>
                <a:spcPts val="1000"/>
              </a:spcAft>
              <a:buSzPct val="100000"/>
              <a:buChar char="•"/>
            </a:pPr>
            <a:r>
              <a:rPr lang="en-US" sz="1900" dirty="0">
                <a:solidFill>
                  <a:schemeClr val="tx1"/>
                </a:solidFill>
              </a:rPr>
              <a:t> this is a design and plan; building and testing is the next step</a:t>
            </a:r>
            <a:endParaRPr lang="en-US" sz="1900" dirty="0"/>
          </a:p>
        </p:txBody>
      </p:sp>
      <p:sp>
        <p:nvSpPr>
          <p:cNvPr id="6" name="Thank You Box"/>
          <p:cNvSpPr txBox="1"/>
          <p:nvPr/>
        </p:nvSpPr>
        <p:spPr>
          <a:xfrm>
            <a:off x="457200" y="4572000"/>
            <a:ext cx="5212080" cy="1508760"/>
          </a:xfrm>
          <a:prstGeom prst="roundRect">
            <a:avLst>
              <a:gd name="adj" fmla="val 4848"/>
            </a:avLst>
          </a:prstGeom>
          <a:solidFill>
            <a:schemeClr val="tx2"/>
          </a:solidFill>
          <a:ln/>
        </p:spPr>
        <p:txBody>
          <a:bodyPr wrap="square" lIns="127000" tIns="127000" rIns="127000" bIns="127000" rtlCol="0" anchor="ctr"/>
          <a:lstStyle/>
          <a:p>
            <a:pPr algn="ctr" indent="0" marL="0">
              <a:buNone/>
            </a:pPr>
            <a:r>
              <a:rPr lang="en-US" sz="3600" b="1" dirty="0">
                <a:solidFill>
                  <a:schemeClr val="bg1"/>
                </a:solidFill>
              </a:rPr>
              <a:t>Thank You!</a:t>
            </a:r>
            <a:endParaRPr lang="en-US" sz="3600" dirty="0"/>
          </a:p>
          <a:p>
            <a:pPr algn="ctr" indent="0" marL="0">
              <a:buNone/>
            </a:pPr>
            <a:r>
              <a:rPr lang="en-US" sz="1800" dirty="0">
                <a:solidFill>
                  <a:schemeClr val="accent3"/>
                </a:solidFill>
              </a:rPr>
              <a:t>Any questions?</a:t>
            </a:r>
            <a:endParaRPr lang="en-US" sz="3600" dirty="0"/>
          </a:p>
        </p:txBody>
      </p:sp>
      <p:sp>
        <p:nvSpPr>
          <p:cNvPr id="7" name="References Panel"/>
          <p:cNvSpPr txBox="1"/>
          <p:nvPr/>
        </p:nvSpPr>
        <p:spPr>
          <a:xfrm>
            <a:off x="6035040" y="1508760"/>
            <a:ext cx="5669280" cy="4572000"/>
          </a:xfrm>
          <a:prstGeom prst="roundRect">
            <a:avLst>
              <a:gd name="adj" fmla="val 1600"/>
            </a:avLst>
          </a:prstGeom>
          <a:solidFill>
            <a:schemeClr val="bg2"/>
          </a:solidFill>
          <a:ln w="9525">
            <a:solidFill>
              <a:srgbClr val="C9D8EC"/>
            </a:solidFill>
          </a:ln>
        </p:spPr>
        <p:txBody>
          <a:bodyPr wrap="square" lIns="203200" tIns="203200" rIns="203200" bIns="203200" rtlCol="0" anchor="t"/>
          <a:lstStyle/>
          <a:p>
            <a:pPr indent="0" marL="0">
              <a:spcAft>
                <a:spcPts val="800"/>
              </a:spcAft>
              <a:buNone/>
            </a:pPr>
            <a:r>
              <a:rPr lang="en-US" sz="2000" b="1" dirty="0">
                <a:solidFill>
                  <a:schemeClr val="tx2"/>
                </a:solidFill>
              </a:rPr>
              <a:t>References</a:t>
            </a:r>
            <a:endParaRPr lang="en-US" sz="2000" dirty="0"/>
          </a:p>
          <a:p>
            <a:pPr marL="342900" indent="-342900">
              <a:spcAft>
                <a:spcPts val="800"/>
              </a:spcAft>
              <a:buSzPct val="100000"/>
              <a:buFont typeface="+mj-lt"/>
              <a:buAutoNum type="arabicPeriod" startAt="1"/>
            </a:pPr>
            <a:r>
              <a:rPr lang="en-US" sz="1500" dirty="0">
                <a:solidFill>
                  <a:schemeClr val="tx1"/>
                </a:solidFill>
              </a:rPr>
              <a:t>McKinney, W. (2010). Data Structures for Statistical Computing in Python. Proceedings of the 9th Python in Science Conference.</a:t>
            </a:r>
            <a:endParaRPr lang="en-US" sz="2000" dirty="0"/>
          </a:p>
          <a:p>
            <a:pPr marL="342900" indent="-342900">
              <a:spcAft>
                <a:spcPts val="800"/>
              </a:spcAft>
              <a:buSzPct val="100000"/>
              <a:buFont typeface="+mj-lt"/>
              <a:buAutoNum type="arabicPeriod" startAt="1"/>
            </a:pPr>
            <a:r>
              <a:rPr lang="en-US" sz="1500" dirty="0">
                <a:solidFill>
                  <a:schemeClr val="tx1"/>
                </a:solidFill>
              </a:rPr>
              <a:t>pandas documentation. https://pandas.pydata.org/docs/</a:t>
            </a:r>
            <a:endParaRPr lang="en-US" sz="2000" dirty="0"/>
          </a:p>
          <a:p>
            <a:pPr marL="342900" indent="-342900">
              <a:spcAft>
                <a:spcPts val="800"/>
              </a:spcAft>
              <a:buSzPct val="100000"/>
              <a:buFont typeface="+mj-lt"/>
              <a:buAutoNum type="arabicPeriod" startAt="1"/>
            </a:pPr>
            <a:r>
              <a:rPr lang="en-US" sz="1500" dirty="0">
                <a:solidFill>
                  <a:schemeClr val="tx1"/>
                </a:solidFill>
              </a:rPr>
              <a:t>Streamlit documentation. https://docs.streamlit.io</a:t>
            </a:r>
            <a:endParaRPr lang="en-US" sz="2000" dirty="0"/>
          </a:p>
          <a:p>
            <a:pPr marL="342900" indent="-342900">
              <a:spcAft>
                <a:spcPts val="800"/>
              </a:spcAft>
              <a:buSzPct val="100000"/>
              <a:buFont typeface="+mj-lt"/>
              <a:buAutoNum type="arabicPeriod" startAt="1"/>
            </a:pPr>
            <a:r>
              <a:rPr lang="en-US" sz="1500" dirty="0">
                <a:solidFill>
                  <a:schemeClr val="tx1"/>
                </a:solidFill>
              </a:rPr>
              <a:t>Python Software Foundation. Python 3 documentation. https://docs.python.org/3/</a:t>
            </a:r>
            <a:endParaRPr lang="en-US" sz="2000" dirty="0"/>
          </a:p>
          <a:p>
            <a:pPr marL="342900" indent="-342900">
              <a:spcAft>
                <a:spcPts val="800"/>
              </a:spcAft>
              <a:buSzPct val="100000"/>
              <a:buFont typeface="+mj-lt"/>
              <a:buAutoNum type="arabicPeriod" startAt="1"/>
            </a:pPr>
            <a:r>
              <a:rPr lang="en-US" sz="1500" dirty="0">
                <a:solidFill>
                  <a:schemeClr val="tx1"/>
                </a:solidFill>
              </a:rPr>
              <a:t>SQLite documentation. https://www.sqlite.org/docs.html</a:t>
            </a:r>
            <a:endParaRPr lang="en-US" sz="2000" dirty="0"/>
          </a:p>
          <a:p>
            <a:pPr marL="342900" indent="-342900">
              <a:spcAft>
                <a:spcPts val="800"/>
              </a:spcAft>
              <a:buSzPct val="100000"/>
              <a:buFont typeface="+mj-lt"/>
              <a:buAutoNum type="arabicPeriod" startAt="1"/>
            </a:pPr>
            <a:r>
              <a:rPr lang="en-US" sz="1500" dirty="0">
                <a:solidFill>
                  <a:schemeClr val="tx1"/>
                </a:solidFill>
              </a:rPr>
              <a:t>Brown, T. et al. (2020). Language Models are Few-Shot Learners. Advances in Neural Information Processing Systems 33.</a:t>
            </a:r>
            <a:endParaRPr lang="en-US" sz="2000" dirty="0"/>
          </a:p>
          <a:p>
            <a:pPr marL="342900" indent="-342900">
              <a:spcAft>
                <a:spcPts val="800"/>
              </a:spcAft>
              <a:buSzPct val="100000"/>
              <a:buFont typeface="+mj-lt"/>
              <a:buAutoNum type="arabicPeriod" startAt="1"/>
            </a:pPr>
            <a:r>
              <a:rPr lang="en-US" sz="1500" dirty="0">
                <a:solidFill>
                  <a:schemeClr val="tx1"/>
                </a:solidFill>
              </a:rPr>
              <a:t>Anthropic. Claude API documentation. https://docs.claude.com</a:t>
            </a:r>
            <a:endParaRPr lang="en-US" sz="2000" dirty="0"/>
          </a:p>
        </p:txBody>
      </p:sp>
      <p:sp>
        <p:nvSpPr>
          <p:cNvPr id="25" name="Slide Number Placeholder 0"/>
          <p:cNvSpPr>
            <a:spLocks noGrp="1"/>
          </p:cNvSpPr>
          <p:nvPr>
            <p:ph type="sldNum" sz="quarter" idx="4294967295"/>
          </p:nvPr>
        </p:nvSpPr>
        <p:spPr>
          <a:xfrm>
            <a:off x="10972800"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Student Blue">
  <a:themeElements>
    <a:clrScheme name="Student Blue">
      <a:dk1>
        <a:srgbClr val="1F2933"/>
      </a:dk1>
      <a:lt1>
        <a:srgbClr val="FFFFFF"/>
      </a:lt1>
      <a:dk2>
        <a:srgbClr val="14325C"/>
      </a:dk2>
      <a:lt2>
        <a:srgbClr val="EEF3FA"/>
      </a:lt2>
      <a:accent1>
        <a:srgbClr val="2E6DB4"/>
      </a:accent1>
      <a:accent2>
        <a:srgbClr val="7FA8D9"/>
      </a:accent2>
      <a:accent3>
        <a:srgbClr val="DCE8F6"/>
      </a:accent3>
      <a:accent4>
        <a:srgbClr val="5B6B7F"/>
      </a:accent4>
      <a:accent5>
        <a:srgbClr val="8A99AD"/>
      </a:accent5>
      <a:accent6>
        <a:srgbClr val="B9C6D8"/>
      </a:accent6>
      <a:hlink>
        <a:srgbClr val="2E6DB4"/>
      </a:hlink>
      <a:folHlink>
        <a:srgbClr val="5B6B7F"/>
      </a:folHlink>
    </a:clrScheme>
    <a:fontScheme name="Student Blu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Reporting System</dc:title>
  <dc:subject>PptxGenJS Presentation</dc:subject>
  <dc:creator>Ananya Gupta</dc:creator>
  <cp:lastModifiedBy>Ananya Gupta</cp:lastModifiedBy>
  <cp:revision>1</cp:revision>
  <dcterms:created xsi:type="dcterms:W3CDTF">2026-10-11T15:18:20Z</dcterms:created>
  <dcterms:modified xsi:type="dcterms:W3CDTF">2026-10-11T15:18:20Z</dcterms:modified>
</cp:coreProperties>
</file>